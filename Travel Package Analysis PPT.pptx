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1"/>
  </p:notesMasterIdLst>
  <p:sldIdLst>
    <p:sldId id="256" r:id="rId2"/>
    <p:sldId id="285" r:id="rId3"/>
    <p:sldId id="260" r:id="rId4"/>
    <p:sldId id="261" r:id="rId5"/>
    <p:sldId id="286" r:id="rId6"/>
    <p:sldId id="262" r:id="rId7"/>
    <p:sldId id="263" r:id="rId8"/>
    <p:sldId id="278" r:id="rId9"/>
    <p:sldId id="264" r:id="rId10"/>
    <p:sldId id="265" r:id="rId11"/>
    <p:sldId id="266" r:id="rId12"/>
    <p:sldId id="276" r:id="rId13"/>
    <p:sldId id="282" r:id="rId14"/>
    <p:sldId id="283" r:id="rId15"/>
    <p:sldId id="267" r:id="rId16"/>
    <p:sldId id="268" r:id="rId17"/>
    <p:sldId id="280" r:id="rId18"/>
    <p:sldId id="281" r:id="rId19"/>
    <p:sldId id="269" r:id="rId20"/>
    <p:sldId id="270" r:id="rId21"/>
    <p:sldId id="279" r:id="rId22"/>
    <p:sldId id="271" r:id="rId23"/>
    <p:sldId id="272" r:id="rId24"/>
    <p:sldId id="284" r:id="rId25"/>
    <p:sldId id="277" r:id="rId26"/>
    <p:sldId id="273" r:id="rId27"/>
    <p:sldId id="274" r:id="rId28"/>
    <p:sldId id="275" r:id="rId29"/>
    <p:sldId id="259" r:id="rId30"/>
  </p:sldIdLst>
  <p:sldSz cx="12192000" cy="6858000"/>
  <p:notesSz cx="6858000" cy="9144000"/>
  <p:embeddedFontLst>
    <p:embeddedFont>
      <p:font typeface="Aptos Narrow" panose="020F0502020204030204" pitchFamily="34" charset="0"/>
      <p:regular r:id="rId32"/>
      <p:bold r:id="rId33"/>
      <p:italic r:id="rId34"/>
      <p:boldItalic r:id="rId35"/>
    </p:embeddedFont>
    <p:embeddedFont>
      <p:font typeface="Franklin Gothic Heavy" panose="020B0903020102020204" pitchFamily="34" charset="0"/>
      <p:regular r:id="rId36"/>
      <p:italic r:id="rId37"/>
    </p:embeddedFont>
    <p:embeddedFont>
      <p:font typeface="Libre Baskerville" panose="020F0502020204030204" pitchFamily="2" charset="0"/>
      <p:regular r:id="rId38"/>
      <p:bold r:id="rId39"/>
      <p: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5" roundtripDataSignature="AMtx7mhnFQsu0qTBRZ+C47HNp0tuHCNko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B35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presProps" Target="presProps.xml"/><Relationship Id="rId20"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hyperlink" Target="https://traveltriangle.com/tour-packages?destination_type=india&amp;" TargetMode="Externa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0" y="0"/>
            <a:ext cx="12191407" cy="6841578"/>
          </a:xfrm>
          <a:prstGeom prst="rect">
            <a:avLst/>
          </a:prstGeom>
          <a:noFill/>
          <a:ln>
            <a:noFill/>
          </a:ln>
        </p:spPr>
      </p:pic>
      <p:sp>
        <p:nvSpPr>
          <p:cNvPr id="99" name="Google Shape;99;p1"/>
          <p:cNvSpPr txBox="1"/>
          <p:nvPr/>
        </p:nvSpPr>
        <p:spPr>
          <a:xfrm>
            <a:off x="2686264" y="2825433"/>
            <a:ext cx="7246189" cy="17542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br>
              <a:rPr lang="en-IN" sz="5400" b="1" i="0" u="sng" strike="noStrike" cap="none" dirty="0">
                <a:solidFill>
                  <a:schemeClr val="tx1"/>
                </a:solidFill>
                <a:latin typeface="Aptos Narrow" panose="020B0004020202020204" pitchFamily="34" charset="0"/>
                <a:ea typeface="Calibri"/>
                <a:cs typeface="Calibri"/>
                <a:sym typeface="Calibri"/>
              </a:rPr>
            </a:br>
            <a:r>
              <a:rPr lang="en-IN" sz="5400" b="1" u="sng" dirty="0">
                <a:solidFill>
                  <a:schemeClr val="tx1"/>
                </a:solidFill>
                <a:latin typeface="Aptos Narrow" panose="020B0004020202020204" pitchFamily="34" charset="0"/>
              </a:rPr>
              <a:t>Travel Package Analysis</a:t>
            </a:r>
            <a:endParaRPr sz="5400" b="1" u="sng" dirty="0">
              <a:solidFill>
                <a:schemeClr val="tx1"/>
              </a:solidFill>
              <a:latin typeface="Aptos Narrow" panose="020B0004020202020204" pitchFamily="34" charset="0"/>
            </a:endParaRPr>
          </a:p>
        </p:txBody>
      </p:sp>
      <p:sp>
        <p:nvSpPr>
          <p:cNvPr id="2" name="TextBox 1">
            <a:extLst>
              <a:ext uri="{FF2B5EF4-FFF2-40B4-BE49-F238E27FC236}">
                <a16:creationId xmlns:a16="http://schemas.microsoft.com/office/drawing/2014/main" id="{3A78A371-44ED-6FE5-35A7-2EEB58A845E9}"/>
              </a:ext>
            </a:extLst>
          </p:cNvPr>
          <p:cNvSpPr txBox="1"/>
          <p:nvPr/>
        </p:nvSpPr>
        <p:spPr>
          <a:xfrm>
            <a:off x="552900" y="5018151"/>
            <a:ext cx="3392129" cy="1384995"/>
          </a:xfrm>
          <a:prstGeom prst="rect">
            <a:avLst/>
          </a:prstGeom>
          <a:noFill/>
        </p:spPr>
        <p:txBody>
          <a:bodyPr wrap="square" rtlCol="0">
            <a:spAutoFit/>
          </a:bodyPr>
          <a:lstStyle/>
          <a:p>
            <a:r>
              <a:rPr lang="en-GB" sz="2400" b="1" i="1" u="sng" dirty="0">
                <a:latin typeface="Aptos Narrow" panose="020B0004020202020204" pitchFamily="34" charset="0"/>
              </a:rPr>
              <a:t>Presented By:</a:t>
            </a:r>
          </a:p>
          <a:p>
            <a:pPr marL="285750" indent="-285750">
              <a:buFont typeface="Arial" panose="020B0604020202020204" pitchFamily="34" charset="0"/>
              <a:buChar char="•"/>
            </a:pPr>
            <a:r>
              <a:rPr lang="en-GB" sz="2000" b="1" i="1" dirty="0">
                <a:latin typeface="Aptos Narrow" panose="020B0004020202020204" pitchFamily="34" charset="0"/>
              </a:rPr>
              <a:t>Jagarlamudi Mokshagna</a:t>
            </a:r>
          </a:p>
          <a:p>
            <a:pPr marL="285750" indent="-285750">
              <a:buFont typeface="Arial" panose="020B0604020202020204" pitchFamily="34" charset="0"/>
              <a:buChar char="•"/>
            </a:pPr>
            <a:r>
              <a:rPr lang="en-GB" sz="2000" b="1" i="1" dirty="0" err="1">
                <a:latin typeface="Aptos Narrow" panose="020B0004020202020204" pitchFamily="34" charset="0"/>
              </a:rPr>
              <a:t>Panduru</a:t>
            </a:r>
            <a:r>
              <a:rPr lang="en-GB" sz="2000" b="1" i="1" dirty="0">
                <a:latin typeface="Aptos Narrow" panose="020B0004020202020204" pitchFamily="34" charset="0"/>
              </a:rPr>
              <a:t> Shyam</a:t>
            </a:r>
          </a:p>
          <a:p>
            <a:pPr marL="285750" indent="-285750">
              <a:buFont typeface="Arial" panose="020B0604020202020204" pitchFamily="34" charset="0"/>
              <a:buChar char="•"/>
            </a:pPr>
            <a:r>
              <a:rPr lang="en-GB" sz="2000" b="1" i="1" dirty="0" err="1">
                <a:latin typeface="Aptos Narrow" panose="020B0004020202020204" pitchFamily="34" charset="0"/>
              </a:rPr>
              <a:t>Noorbasha</a:t>
            </a:r>
            <a:r>
              <a:rPr lang="en-GB" sz="2000" b="1" i="1" dirty="0">
                <a:latin typeface="Aptos Narrow" panose="020B0004020202020204" pitchFamily="34" charset="0"/>
              </a:rPr>
              <a:t> </a:t>
            </a:r>
            <a:r>
              <a:rPr lang="en-GB" sz="2000" b="1" i="1" dirty="0" err="1">
                <a:latin typeface="Aptos Narrow" panose="020B0004020202020204" pitchFamily="34" charset="0"/>
              </a:rPr>
              <a:t>Rajak</a:t>
            </a:r>
            <a:endParaRPr lang="en-IN" sz="2000" b="1" i="1" dirty="0">
              <a:latin typeface="Aptos Narrow" panose="020B00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B8503F45-6A77-0A76-597F-BC72A5FD3FDD}"/>
              </a:ext>
            </a:extLst>
          </p:cNvPr>
          <p:cNvSpPr/>
          <p:nvPr/>
        </p:nvSpPr>
        <p:spPr>
          <a:xfrm>
            <a:off x="462118" y="1758053"/>
            <a:ext cx="2595716" cy="478544"/>
          </a:xfrm>
          <a:prstGeom prst="roundRect">
            <a:avLst>
              <a:gd name="adj" fmla="val 50000"/>
            </a:avLst>
          </a:prstGeom>
        </p:spPr>
        <p:style>
          <a:lnRef idx="1">
            <a:schemeClr val="accent3"/>
          </a:lnRef>
          <a:fillRef idx="2">
            <a:schemeClr val="accent3"/>
          </a:fillRef>
          <a:effectRef idx="1">
            <a:schemeClr val="accent3"/>
          </a:effectRef>
          <a:fontRef idx="minor">
            <a:schemeClr val="dk1"/>
          </a:fontRef>
        </p:style>
        <p:txBody>
          <a:bodyPr rtlCol="0" anchor="ctr"/>
          <a:lstStyle/>
          <a:p>
            <a:r>
              <a:rPr lang="en-IN" sz="2400" dirty="0">
                <a:latin typeface="Aptos Narrow" panose="020B0004020202020204" pitchFamily="34" charset="0"/>
              </a:rPr>
              <a:t>Collect The Data</a:t>
            </a:r>
          </a:p>
        </p:txBody>
      </p:sp>
      <p:sp>
        <p:nvSpPr>
          <p:cNvPr id="11" name="Rectangle: Rounded Corners 10">
            <a:extLst>
              <a:ext uri="{FF2B5EF4-FFF2-40B4-BE49-F238E27FC236}">
                <a16:creationId xmlns:a16="http://schemas.microsoft.com/office/drawing/2014/main" id="{65597E33-9920-50EE-BA56-32386CC91FCD}"/>
              </a:ext>
            </a:extLst>
          </p:cNvPr>
          <p:cNvSpPr/>
          <p:nvPr/>
        </p:nvSpPr>
        <p:spPr>
          <a:xfrm>
            <a:off x="3582015" y="3613324"/>
            <a:ext cx="2595716" cy="478544"/>
          </a:xfrm>
          <a:prstGeom prst="roundRect">
            <a:avLst>
              <a:gd name="adj" fmla="val 50000"/>
            </a:avLst>
          </a:prstGeom>
        </p:spPr>
        <p:style>
          <a:lnRef idx="1">
            <a:schemeClr val="accent3"/>
          </a:lnRef>
          <a:fillRef idx="2">
            <a:schemeClr val="accent3"/>
          </a:fillRef>
          <a:effectRef idx="1">
            <a:schemeClr val="accent3"/>
          </a:effectRef>
          <a:fontRef idx="minor">
            <a:schemeClr val="dk1"/>
          </a:fontRef>
        </p:style>
        <p:txBody>
          <a:bodyPr rtlCol="0" anchor="ctr"/>
          <a:lstStyle/>
          <a:p>
            <a:r>
              <a:rPr lang="en-IN" sz="2400" dirty="0">
                <a:latin typeface="Aptos Narrow" panose="020B0004020202020204" pitchFamily="34" charset="0"/>
              </a:rPr>
              <a:t>   Find The Insights </a:t>
            </a:r>
          </a:p>
        </p:txBody>
      </p:sp>
      <p:sp>
        <p:nvSpPr>
          <p:cNvPr id="12" name="Rectangle: Rounded Corners 11">
            <a:extLst>
              <a:ext uri="{FF2B5EF4-FFF2-40B4-BE49-F238E27FC236}">
                <a16:creationId xmlns:a16="http://schemas.microsoft.com/office/drawing/2014/main" id="{2F696C5D-1DDB-16B8-72E5-A957EE561D86}"/>
              </a:ext>
            </a:extLst>
          </p:cNvPr>
          <p:cNvSpPr/>
          <p:nvPr/>
        </p:nvSpPr>
        <p:spPr>
          <a:xfrm>
            <a:off x="4385187" y="1766612"/>
            <a:ext cx="2595716" cy="478544"/>
          </a:xfrm>
          <a:prstGeom prst="roundRect">
            <a:avLst>
              <a:gd name="adj" fmla="val 50000"/>
            </a:avLst>
          </a:prstGeom>
        </p:spPr>
        <p:style>
          <a:lnRef idx="1">
            <a:schemeClr val="accent3"/>
          </a:lnRef>
          <a:fillRef idx="2">
            <a:schemeClr val="accent3"/>
          </a:fillRef>
          <a:effectRef idx="1">
            <a:schemeClr val="accent3"/>
          </a:effectRef>
          <a:fontRef idx="minor">
            <a:schemeClr val="dk1"/>
          </a:fontRef>
        </p:style>
        <p:txBody>
          <a:bodyPr rtlCol="0" anchor="ctr"/>
          <a:lstStyle/>
          <a:p>
            <a:r>
              <a:rPr lang="en-IN" sz="2400" dirty="0">
                <a:latin typeface="Aptos Narrow" panose="020B0004020202020204" pitchFamily="34" charset="0"/>
              </a:rPr>
              <a:t>     Load The Data</a:t>
            </a:r>
          </a:p>
        </p:txBody>
      </p:sp>
      <p:sp>
        <p:nvSpPr>
          <p:cNvPr id="13" name="Rectangle: Rounded Corners 12">
            <a:extLst>
              <a:ext uri="{FF2B5EF4-FFF2-40B4-BE49-F238E27FC236}">
                <a16:creationId xmlns:a16="http://schemas.microsoft.com/office/drawing/2014/main" id="{C45979AA-A240-1871-7ACE-9F0930913212}"/>
              </a:ext>
            </a:extLst>
          </p:cNvPr>
          <p:cNvSpPr/>
          <p:nvPr/>
        </p:nvSpPr>
        <p:spPr>
          <a:xfrm>
            <a:off x="462118" y="4891637"/>
            <a:ext cx="3822292" cy="478544"/>
          </a:xfrm>
          <a:prstGeom prst="roundRect">
            <a:avLst>
              <a:gd name="adj" fmla="val 50000"/>
            </a:avLst>
          </a:prstGeom>
        </p:spPr>
        <p:style>
          <a:lnRef idx="1">
            <a:schemeClr val="accent3"/>
          </a:lnRef>
          <a:fillRef idx="2">
            <a:schemeClr val="accent3"/>
          </a:fillRef>
          <a:effectRef idx="1">
            <a:schemeClr val="accent3"/>
          </a:effectRef>
          <a:fontRef idx="minor">
            <a:schemeClr val="dk1"/>
          </a:fontRef>
        </p:style>
        <p:txBody>
          <a:bodyPr rtlCol="0" anchor="ctr"/>
          <a:lstStyle/>
          <a:p>
            <a:r>
              <a:rPr lang="en-IN" sz="2400" dirty="0">
                <a:latin typeface="Aptos Narrow" panose="020B0004020202020204" pitchFamily="34" charset="0"/>
              </a:rPr>
              <a:t>      Data Driven Decisions</a:t>
            </a:r>
          </a:p>
        </p:txBody>
      </p:sp>
      <p:sp>
        <p:nvSpPr>
          <p:cNvPr id="14" name="Rectangle: Rounded Corners 13">
            <a:extLst>
              <a:ext uri="{FF2B5EF4-FFF2-40B4-BE49-F238E27FC236}">
                <a16:creationId xmlns:a16="http://schemas.microsoft.com/office/drawing/2014/main" id="{BEDB16F1-3E22-B266-37AA-0BF0D80963CC}"/>
              </a:ext>
            </a:extLst>
          </p:cNvPr>
          <p:cNvSpPr/>
          <p:nvPr/>
        </p:nvSpPr>
        <p:spPr>
          <a:xfrm>
            <a:off x="8384457" y="1766612"/>
            <a:ext cx="2595716" cy="478544"/>
          </a:xfrm>
          <a:prstGeom prst="roundRect">
            <a:avLst>
              <a:gd name="adj" fmla="val 50000"/>
            </a:avLst>
          </a:prstGeom>
        </p:spPr>
        <p:style>
          <a:lnRef idx="1">
            <a:schemeClr val="accent3"/>
          </a:lnRef>
          <a:fillRef idx="2">
            <a:schemeClr val="accent3"/>
          </a:fillRef>
          <a:effectRef idx="1">
            <a:schemeClr val="accent3"/>
          </a:effectRef>
          <a:fontRef idx="minor">
            <a:schemeClr val="dk1"/>
          </a:fontRef>
        </p:style>
        <p:txBody>
          <a:bodyPr rtlCol="0" anchor="ctr"/>
          <a:lstStyle/>
          <a:p>
            <a:r>
              <a:rPr lang="en-IN" sz="2400" dirty="0">
                <a:latin typeface="Aptos Narrow" panose="020B0004020202020204" pitchFamily="34" charset="0"/>
              </a:rPr>
              <a:t>   </a:t>
            </a:r>
            <a:r>
              <a:rPr lang="en-IN" sz="2400" dirty="0" err="1">
                <a:latin typeface="Aptos Narrow" panose="020B0004020202020204" pitchFamily="34" charset="0"/>
              </a:rPr>
              <a:t>Analyze</a:t>
            </a:r>
            <a:r>
              <a:rPr lang="en-IN" sz="2400" dirty="0">
                <a:latin typeface="Aptos Narrow" panose="020B0004020202020204" pitchFamily="34" charset="0"/>
              </a:rPr>
              <a:t> The Data</a:t>
            </a:r>
          </a:p>
        </p:txBody>
      </p:sp>
      <p:sp>
        <p:nvSpPr>
          <p:cNvPr id="15" name="Rectangle: Rounded Corners 14">
            <a:extLst>
              <a:ext uri="{FF2B5EF4-FFF2-40B4-BE49-F238E27FC236}">
                <a16:creationId xmlns:a16="http://schemas.microsoft.com/office/drawing/2014/main" id="{934FD26C-7E99-7F02-4001-812ADA8F234E}"/>
              </a:ext>
            </a:extLst>
          </p:cNvPr>
          <p:cNvSpPr/>
          <p:nvPr/>
        </p:nvSpPr>
        <p:spPr>
          <a:xfrm>
            <a:off x="7682680" y="3613324"/>
            <a:ext cx="3291350" cy="478544"/>
          </a:xfrm>
          <a:prstGeom prst="roundRect">
            <a:avLst>
              <a:gd name="adj" fmla="val 50000"/>
            </a:avLst>
          </a:prstGeom>
        </p:spPr>
        <p:style>
          <a:lnRef idx="1">
            <a:schemeClr val="accent3"/>
          </a:lnRef>
          <a:fillRef idx="2">
            <a:schemeClr val="accent3"/>
          </a:fillRef>
          <a:effectRef idx="1">
            <a:schemeClr val="accent3"/>
          </a:effectRef>
          <a:fontRef idx="minor">
            <a:schemeClr val="dk1"/>
          </a:fontRef>
        </p:style>
        <p:txBody>
          <a:bodyPr rtlCol="0" anchor="ctr"/>
          <a:lstStyle/>
          <a:p>
            <a:r>
              <a:rPr lang="en-IN" sz="2400" dirty="0">
                <a:latin typeface="Aptos Narrow" panose="020B0004020202020204" pitchFamily="34" charset="0"/>
              </a:rPr>
              <a:t>    Summary Of The Data</a:t>
            </a:r>
          </a:p>
        </p:txBody>
      </p:sp>
      <p:sp>
        <p:nvSpPr>
          <p:cNvPr id="17" name="Arrow: Right 16">
            <a:extLst>
              <a:ext uri="{FF2B5EF4-FFF2-40B4-BE49-F238E27FC236}">
                <a16:creationId xmlns:a16="http://schemas.microsoft.com/office/drawing/2014/main" id="{A21A56BF-3A9A-571C-B9F4-F5D20AEC689B}"/>
              </a:ext>
            </a:extLst>
          </p:cNvPr>
          <p:cNvSpPr/>
          <p:nvPr/>
        </p:nvSpPr>
        <p:spPr>
          <a:xfrm>
            <a:off x="3395816" y="1879338"/>
            <a:ext cx="575188" cy="235974"/>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18" name="Arrow: Right 17">
            <a:extLst>
              <a:ext uri="{FF2B5EF4-FFF2-40B4-BE49-F238E27FC236}">
                <a16:creationId xmlns:a16="http://schemas.microsoft.com/office/drawing/2014/main" id="{E7C61B8B-6477-9D6E-C24F-6C334F71B3B2}"/>
              </a:ext>
            </a:extLst>
          </p:cNvPr>
          <p:cNvSpPr/>
          <p:nvPr/>
        </p:nvSpPr>
        <p:spPr>
          <a:xfrm>
            <a:off x="7395086" y="1879338"/>
            <a:ext cx="575188" cy="235974"/>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19" name="Arrow: Right 18">
            <a:extLst>
              <a:ext uri="{FF2B5EF4-FFF2-40B4-BE49-F238E27FC236}">
                <a16:creationId xmlns:a16="http://schemas.microsoft.com/office/drawing/2014/main" id="{ED98319F-FCE4-D7D8-6A29-FB2633032997}"/>
              </a:ext>
            </a:extLst>
          </p:cNvPr>
          <p:cNvSpPr/>
          <p:nvPr/>
        </p:nvSpPr>
        <p:spPr>
          <a:xfrm rot="10800000">
            <a:off x="6693309" y="3734609"/>
            <a:ext cx="575188" cy="235974"/>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22" name="Arrow: Right 21">
            <a:extLst>
              <a:ext uri="{FF2B5EF4-FFF2-40B4-BE49-F238E27FC236}">
                <a16:creationId xmlns:a16="http://schemas.microsoft.com/office/drawing/2014/main" id="{3999832C-A6F2-F03F-7C83-9AE465183FF1}"/>
              </a:ext>
            </a:extLst>
          </p:cNvPr>
          <p:cNvSpPr/>
          <p:nvPr/>
        </p:nvSpPr>
        <p:spPr>
          <a:xfrm rot="5400000">
            <a:off x="9328354" y="2811253"/>
            <a:ext cx="575188" cy="235974"/>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24" name="Arrow: Bent-Up 23">
            <a:extLst>
              <a:ext uri="{FF2B5EF4-FFF2-40B4-BE49-F238E27FC236}">
                <a16:creationId xmlns:a16="http://schemas.microsoft.com/office/drawing/2014/main" id="{9887A86F-A435-C26C-E736-046ED44C4C3A}"/>
              </a:ext>
            </a:extLst>
          </p:cNvPr>
          <p:cNvSpPr/>
          <p:nvPr/>
        </p:nvSpPr>
        <p:spPr>
          <a:xfrm rot="10800000">
            <a:off x="2128687" y="3797952"/>
            <a:ext cx="1101214" cy="562072"/>
          </a:xfrm>
          <a:prstGeom prst="bentUp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5" name="TextBox 24">
            <a:extLst>
              <a:ext uri="{FF2B5EF4-FFF2-40B4-BE49-F238E27FC236}">
                <a16:creationId xmlns:a16="http://schemas.microsoft.com/office/drawing/2014/main" id="{A3F3149F-B6F7-5724-C7A4-54EF5F60B960}"/>
              </a:ext>
            </a:extLst>
          </p:cNvPr>
          <p:cNvSpPr txBox="1"/>
          <p:nvPr/>
        </p:nvSpPr>
        <p:spPr>
          <a:xfrm>
            <a:off x="3057834" y="446276"/>
            <a:ext cx="6744929" cy="707886"/>
          </a:xfrm>
          <a:prstGeom prst="rect">
            <a:avLst/>
          </a:prstGeom>
          <a:noFill/>
        </p:spPr>
        <p:txBody>
          <a:bodyPr wrap="square" rtlCol="0">
            <a:spAutoFit/>
          </a:bodyPr>
          <a:lstStyle/>
          <a:p>
            <a:r>
              <a:rPr lang="en-IN" sz="4000" b="1" i="1" u="sng" dirty="0">
                <a:effectLst>
                  <a:outerShdw blurRad="38100" dist="38100" dir="2700000" algn="tl">
                    <a:srgbClr val="000000">
                      <a:alpha val="43137"/>
                    </a:srgbClr>
                  </a:outerShdw>
                </a:effectLst>
                <a:latin typeface="Aptos Narrow" panose="020B0004020202020204" pitchFamily="34" charset="0"/>
              </a:rPr>
              <a:t>Data Analysis Life Cycle :</a:t>
            </a:r>
          </a:p>
        </p:txBody>
      </p:sp>
    </p:spTree>
    <p:extLst>
      <p:ext uri="{BB962C8B-B14F-4D97-AF65-F5344CB8AC3E}">
        <p14:creationId xmlns:p14="http://schemas.microsoft.com/office/powerpoint/2010/main" val="22101576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FB789-CD84-07D1-EFCE-663CAB35426E}"/>
              </a:ext>
            </a:extLst>
          </p:cNvPr>
          <p:cNvSpPr>
            <a:spLocks noGrp="1"/>
          </p:cNvSpPr>
          <p:nvPr>
            <p:ph type="title"/>
          </p:nvPr>
        </p:nvSpPr>
        <p:spPr>
          <a:xfrm>
            <a:off x="0" y="347407"/>
            <a:ext cx="9495503" cy="411622"/>
          </a:xfrm>
        </p:spPr>
        <p:txBody>
          <a:bodyPr>
            <a:normAutofit fontScale="90000"/>
          </a:bodyPr>
          <a:lstStyle/>
          <a:p>
            <a:r>
              <a:rPr lang="en-GB" sz="2800" i="1" u="sng" dirty="0">
                <a:latin typeface="Franklin Gothic Heavy" panose="020B0903020102020204" pitchFamily="34" charset="0"/>
              </a:rPr>
              <a:t>Business Problem &amp; Use Case (Domain Understanding</a:t>
            </a:r>
            <a:r>
              <a:rPr lang="en-GB" sz="2800" i="1" dirty="0">
                <a:latin typeface="Franklin Gothic Heavy" panose="020B0903020102020204" pitchFamily="34" charset="0"/>
              </a:rPr>
              <a:t>) :</a:t>
            </a:r>
            <a:endParaRPr lang="en-IN" sz="2800" i="1" dirty="0">
              <a:latin typeface="Franklin Gothic Heavy" panose="020B0903020102020204" pitchFamily="34" charset="0"/>
            </a:endParaRPr>
          </a:p>
        </p:txBody>
      </p:sp>
      <p:sp>
        <p:nvSpPr>
          <p:cNvPr id="3" name="Text Placeholder 2">
            <a:extLst>
              <a:ext uri="{FF2B5EF4-FFF2-40B4-BE49-F238E27FC236}">
                <a16:creationId xmlns:a16="http://schemas.microsoft.com/office/drawing/2014/main" id="{139530A1-1302-6794-D8E9-62202A5DD99E}"/>
              </a:ext>
            </a:extLst>
          </p:cNvPr>
          <p:cNvSpPr>
            <a:spLocks noGrp="1"/>
          </p:cNvSpPr>
          <p:nvPr>
            <p:ph type="body" idx="1"/>
          </p:nvPr>
        </p:nvSpPr>
        <p:spPr>
          <a:xfrm>
            <a:off x="245806" y="936009"/>
            <a:ext cx="11855246" cy="4835526"/>
          </a:xfrm>
        </p:spPr>
        <p:txBody>
          <a:bodyPr>
            <a:normAutofit lnSpcReduction="10000"/>
          </a:bodyPr>
          <a:lstStyle/>
          <a:p>
            <a:pPr marL="114300" indent="0">
              <a:buNone/>
            </a:pPr>
            <a:r>
              <a:rPr lang="en-GB" b="1" i="1" u="sng" dirty="0">
                <a:latin typeface="Aptos Narrow" panose="020B0004020202020204" pitchFamily="34" charset="0"/>
              </a:rPr>
              <a:t>Business Problem :</a:t>
            </a:r>
          </a:p>
          <a:p>
            <a:pPr marL="114300" indent="0">
              <a:buNone/>
            </a:pPr>
            <a:r>
              <a:rPr lang="en-GB" sz="2000" i="1" dirty="0">
                <a:latin typeface="Aptos Narrow" panose="020B0004020202020204" pitchFamily="34" charset="0"/>
              </a:rPr>
              <a:t>Travel websites provide numerous tour packages with different prices, discounts, durations, and ratings. However, it is difficult for customers to quickly identify the best travel packages based on value, duration, and savings.</a:t>
            </a:r>
          </a:p>
          <a:p>
            <a:pPr marL="114300" indent="0">
              <a:buNone/>
            </a:pPr>
            <a:endParaRPr lang="en-GB" b="1" i="1" u="sng" dirty="0"/>
          </a:p>
          <a:p>
            <a:pPr marL="114300" indent="0">
              <a:buNone/>
            </a:pPr>
            <a:r>
              <a:rPr lang="en-GB" b="1" i="1" u="sng" dirty="0">
                <a:latin typeface="Aptos Narrow" panose="020B0004020202020204" pitchFamily="34" charset="0"/>
              </a:rPr>
              <a:t>Use Case :</a:t>
            </a:r>
          </a:p>
          <a:p>
            <a:r>
              <a:rPr lang="en-GB" sz="2200" i="1" dirty="0">
                <a:latin typeface="Aptos Narrow" panose="020B0004020202020204" pitchFamily="34" charset="0"/>
              </a:rPr>
              <a:t>Travel companies and customers can benefit from </a:t>
            </a:r>
            <a:r>
              <a:rPr lang="en-GB" sz="2200" i="1" dirty="0" err="1">
                <a:latin typeface="Aptos Narrow" panose="020B0004020202020204" pitchFamily="34" charset="0"/>
              </a:rPr>
              <a:t>analyzing</a:t>
            </a:r>
            <a:r>
              <a:rPr lang="en-GB" sz="2200" i="1" dirty="0">
                <a:latin typeface="Aptos Narrow" panose="020B0004020202020204" pitchFamily="34" charset="0"/>
              </a:rPr>
              <a:t> travel package data to understand:</a:t>
            </a:r>
          </a:p>
          <a:p>
            <a:pPr>
              <a:buFont typeface="Arial" panose="020B0604020202020204" pitchFamily="34" charset="0"/>
              <a:buChar char="•"/>
            </a:pPr>
            <a:r>
              <a:rPr lang="en-GB" sz="2200" i="1" dirty="0">
                <a:latin typeface="Aptos Narrow" panose="020B0004020202020204" pitchFamily="34" charset="0"/>
              </a:rPr>
              <a:t>Pricing patterns across different destinations</a:t>
            </a:r>
          </a:p>
          <a:p>
            <a:pPr>
              <a:buFont typeface="Arial" panose="020B0604020202020204" pitchFamily="34" charset="0"/>
              <a:buChar char="•"/>
            </a:pPr>
            <a:r>
              <a:rPr lang="en-GB" sz="2200" i="1" dirty="0">
                <a:latin typeface="Aptos Narrow" panose="020B0004020202020204" pitchFamily="34" charset="0"/>
              </a:rPr>
              <a:t>Discount strategies used by travel platforms</a:t>
            </a:r>
          </a:p>
          <a:p>
            <a:pPr>
              <a:buFont typeface="Arial" panose="020B0604020202020204" pitchFamily="34" charset="0"/>
              <a:buChar char="•"/>
            </a:pPr>
            <a:r>
              <a:rPr lang="en-GB" sz="2200" i="1" dirty="0">
                <a:latin typeface="Aptos Narrow" panose="020B0004020202020204" pitchFamily="34" charset="0"/>
              </a:rPr>
              <a:t>Relationship between trip duration and package price</a:t>
            </a:r>
          </a:p>
          <a:p>
            <a:pPr>
              <a:buFont typeface="Arial" panose="020B0604020202020204" pitchFamily="34" charset="0"/>
              <a:buChar char="•"/>
            </a:pPr>
            <a:r>
              <a:rPr lang="en-GB" sz="2200" i="1" dirty="0">
                <a:latin typeface="Aptos Narrow" panose="020B0004020202020204" pitchFamily="34" charset="0"/>
              </a:rPr>
              <a:t>Savings offered through discounts</a:t>
            </a:r>
          </a:p>
          <a:p>
            <a:r>
              <a:rPr lang="en-GB" sz="2200" i="1" dirty="0">
                <a:latin typeface="Aptos Narrow" panose="020B0004020202020204" pitchFamily="34" charset="0"/>
              </a:rPr>
              <a:t>This analysis helps in identifying cost-effective travel packages and market trends</a:t>
            </a:r>
          </a:p>
          <a:p>
            <a:pPr marL="114300" indent="0">
              <a:buNone/>
            </a:pPr>
            <a:endParaRPr lang="en-IN" dirty="0"/>
          </a:p>
        </p:txBody>
      </p:sp>
    </p:spTree>
    <p:extLst>
      <p:ext uri="{BB962C8B-B14F-4D97-AF65-F5344CB8AC3E}">
        <p14:creationId xmlns:p14="http://schemas.microsoft.com/office/powerpoint/2010/main" val="28224380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2739F-D641-195F-A941-25D4A3D35223}"/>
              </a:ext>
            </a:extLst>
          </p:cNvPr>
          <p:cNvSpPr>
            <a:spLocks noGrp="1"/>
          </p:cNvSpPr>
          <p:nvPr>
            <p:ph type="title"/>
          </p:nvPr>
        </p:nvSpPr>
        <p:spPr>
          <a:xfrm>
            <a:off x="0" y="0"/>
            <a:ext cx="10301748" cy="1267030"/>
          </a:xfrm>
        </p:spPr>
        <p:txBody>
          <a:bodyPr>
            <a:normAutofit/>
          </a:bodyPr>
          <a:lstStyle/>
          <a:p>
            <a:r>
              <a:rPr lang="en-IN" sz="4000" b="1" i="1" u="sng" dirty="0">
                <a:latin typeface="Aptos Narrow" panose="020B0004020202020204" pitchFamily="34" charset="0"/>
              </a:rPr>
              <a:t>Objective of the Project :</a:t>
            </a:r>
          </a:p>
        </p:txBody>
      </p:sp>
      <p:sp>
        <p:nvSpPr>
          <p:cNvPr id="3" name="Text Placeholder 2">
            <a:extLst>
              <a:ext uri="{FF2B5EF4-FFF2-40B4-BE49-F238E27FC236}">
                <a16:creationId xmlns:a16="http://schemas.microsoft.com/office/drawing/2014/main" id="{A732D63A-5892-25BB-63DA-75C7778374C5}"/>
              </a:ext>
            </a:extLst>
          </p:cNvPr>
          <p:cNvSpPr>
            <a:spLocks noGrp="1"/>
          </p:cNvSpPr>
          <p:nvPr>
            <p:ph type="body" idx="1"/>
          </p:nvPr>
        </p:nvSpPr>
        <p:spPr>
          <a:xfrm>
            <a:off x="100781" y="1176696"/>
            <a:ext cx="10515600" cy="4351338"/>
          </a:xfrm>
        </p:spPr>
        <p:txBody>
          <a:bodyPr>
            <a:normAutofit fontScale="92500"/>
          </a:bodyPr>
          <a:lstStyle/>
          <a:p>
            <a:pPr marL="114300" indent="0">
              <a:buNone/>
            </a:pPr>
            <a:r>
              <a:rPr lang="en-GB" sz="3000" b="1" i="1" u="sng" dirty="0">
                <a:latin typeface="Aptos Narrow" panose="020B0004020202020204" pitchFamily="34" charset="0"/>
              </a:rPr>
              <a:t>The main objectives of this project :</a:t>
            </a:r>
          </a:p>
          <a:p>
            <a:pPr>
              <a:buFont typeface="Arial" panose="020B0604020202020204" pitchFamily="34" charset="0"/>
              <a:buChar char="•"/>
            </a:pPr>
            <a:r>
              <a:rPr lang="en-GB" i="1" dirty="0">
                <a:latin typeface="Aptos Narrow" panose="020B0004020202020204" pitchFamily="34" charset="0"/>
              </a:rPr>
              <a:t>To scrape travel package data from a travel website.</a:t>
            </a:r>
          </a:p>
          <a:p>
            <a:pPr>
              <a:buFont typeface="Arial" panose="020B0604020202020204" pitchFamily="34" charset="0"/>
              <a:buChar char="•"/>
            </a:pPr>
            <a:r>
              <a:rPr lang="en-GB" i="1" dirty="0">
                <a:latin typeface="Aptos Narrow" panose="020B0004020202020204" pitchFamily="34" charset="0"/>
              </a:rPr>
              <a:t>To clean and preprocess the scraped dataset.</a:t>
            </a:r>
          </a:p>
          <a:p>
            <a:pPr>
              <a:buFont typeface="Arial" panose="020B0604020202020204" pitchFamily="34" charset="0"/>
              <a:buChar char="•"/>
            </a:pPr>
            <a:r>
              <a:rPr lang="en-GB" i="1" dirty="0">
                <a:latin typeface="Aptos Narrow" panose="020B0004020202020204" pitchFamily="34" charset="0"/>
              </a:rPr>
              <a:t>To perform Exploratory Data Analysis (EDA) on the travel package data.</a:t>
            </a:r>
          </a:p>
          <a:p>
            <a:pPr>
              <a:buFont typeface="Arial" panose="020B0604020202020204" pitchFamily="34" charset="0"/>
              <a:buChar char="•"/>
            </a:pPr>
            <a:r>
              <a:rPr lang="en-GB" i="1" dirty="0">
                <a:latin typeface="Aptos Narrow" panose="020B0004020202020204" pitchFamily="34" charset="0"/>
              </a:rPr>
              <a:t>To identify patterns between price, discounts, savings, and trip duration.</a:t>
            </a:r>
          </a:p>
          <a:p>
            <a:pPr>
              <a:buFont typeface="Arial" panose="020B0604020202020204" pitchFamily="34" charset="0"/>
              <a:buChar char="•"/>
            </a:pPr>
            <a:r>
              <a:rPr lang="en-GB" i="1" dirty="0">
                <a:latin typeface="Aptos Narrow" panose="020B0004020202020204" pitchFamily="34" charset="0"/>
              </a:rPr>
              <a:t>To visualize insights using univariate, bivariate, and multivariate analysis.</a:t>
            </a:r>
          </a:p>
          <a:p>
            <a:r>
              <a:rPr lang="en-GB" i="1" dirty="0">
                <a:latin typeface="Aptos Narrow" panose="020B0004020202020204" pitchFamily="34" charset="0"/>
              </a:rPr>
              <a:t>The final goal is to extract meaningful insights from travel package data.</a:t>
            </a:r>
          </a:p>
          <a:p>
            <a:pPr marL="114300" indent="0">
              <a:buNone/>
            </a:pPr>
            <a:endParaRPr lang="en-IN" dirty="0"/>
          </a:p>
        </p:txBody>
      </p:sp>
    </p:spTree>
    <p:extLst>
      <p:ext uri="{BB962C8B-B14F-4D97-AF65-F5344CB8AC3E}">
        <p14:creationId xmlns:p14="http://schemas.microsoft.com/office/powerpoint/2010/main" val="9563308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8A7D4B-766E-DC0C-9A58-555577EB831D}"/>
              </a:ext>
            </a:extLst>
          </p:cNvPr>
          <p:cNvPicPr>
            <a:picLocks noChangeAspect="1"/>
          </p:cNvPicPr>
          <p:nvPr/>
        </p:nvPicPr>
        <p:blipFill>
          <a:blip r:embed="rId2"/>
          <a:stretch>
            <a:fillRect/>
          </a:stretch>
        </p:blipFill>
        <p:spPr>
          <a:xfrm>
            <a:off x="9834" y="0"/>
            <a:ext cx="12195448" cy="6858000"/>
          </a:xfrm>
          <a:prstGeom prst="rect">
            <a:avLst/>
          </a:prstGeom>
        </p:spPr>
      </p:pic>
    </p:spTree>
    <p:extLst>
      <p:ext uri="{BB962C8B-B14F-4D97-AF65-F5344CB8AC3E}">
        <p14:creationId xmlns:p14="http://schemas.microsoft.com/office/powerpoint/2010/main" val="39070665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72679-82BF-60E2-B0D9-7744C27BD76B}"/>
              </a:ext>
            </a:extLst>
          </p:cNvPr>
          <p:cNvSpPr>
            <a:spLocks noGrp="1"/>
          </p:cNvSpPr>
          <p:nvPr>
            <p:ph type="title"/>
          </p:nvPr>
        </p:nvSpPr>
        <p:spPr>
          <a:xfrm>
            <a:off x="0" y="-87159"/>
            <a:ext cx="10515600" cy="1325563"/>
          </a:xfrm>
        </p:spPr>
        <p:txBody>
          <a:bodyPr>
            <a:normAutofit/>
          </a:bodyPr>
          <a:lstStyle/>
          <a:p>
            <a:r>
              <a:rPr lang="en-IN" sz="3600" b="1" i="1" dirty="0">
                <a:latin typeface="Aptos Narrow" panose="020B0004020202020204" pitchFamily="34" charset="0"/>
              </a:rPr>
              <a:t>       </a:t>
            </a:r>
            <a:r>
              <a:rPr lang="en-IN" sz="3600" b="1" i="1" u="sng" dirty="0">
                <a:latin typeface="Aptos Narrow" panose="020B0004020202020204" pitchFamily="34" charset="0"/>
              </a:rPr>
              <a:t>Web Scraping – Details</a:t>
            </a:r>
          </a:p>
        </p:txBody>
      </p:sp>
      <p:sp>
        <p:nvSpPr>
          <p:cNvPr id="3" name="Text Placeholder 2">
            <a:extLst>
              <a:ext uri="{FF2B5EF4-FFF2-40B4-BE49-F238E27FC236}">
                <a16:creationId xmlns:a16="http://schemas.microsoft.com/office/drawing/2014/main" id="{FDC38FF4-EBE4-19DD-EA26-3F7C54604CD7}"/>
              </a:ext>
            </a:extLst>
          </p:cNvPr>
          <p:cNvSpPr>
            <a:spLocks noGrp="1"/>
          </p:cNvSpPr>
          <p:nvPr>
            <p:ph type="body" idx="1"/>
          </p:nvPr>
        </p:nvSpPr>
        <p:spPr>
          <a:xfrm>
            <a:off x="477519" y="776747"/>
            <a:ext cx="11702757" cy="6081253"/>
          </a:xfrm>
        </p:spPr>
        <p:txBody>
          <a:bodyPr>
            <a:normAutofit/>
          </a:bodyPr>
          <a:lstStyle/>
          <a:p>
            <a:pPr marL="114300" indent="0">
              <a:buNone/>
            </a:pPr>
            <a:r>
              <a:rPr lang="en-GB" b="1" i="1" u="sng" dirty="0">
                <a:latin typeface="Aptos Narrow" panose="020B0004020202020204" pitchFamily="34" charset="0"/>
              </a:rPr>
              <a:t>Website:</a:t>
            </a:r>
          </a:p>
          <a:p>
            <a:pPr marL="114300" indent="0">
              <a:buNone/>
            </a:pPr>
            <a:r>
              <a:rPr lang="en-GB" sz="2000" i="1" dirty="0">
                <a:latin typeface="Aptos Narrow" panose="020B0004020202020204" pitchFamily="34" charset="0"/>
              </a:rPr>
              <a:t>Travel Triangle Tour Packages</a:t>
            </a:r>
          </a:p>
          <a:p>
            <a:pPr marL="114300" indent="0">
              <a:buNone/>
            </a:pPr>
            <a:r>
              <a:rPr lang="en-IN" sz="1100" i="1" dirty="0">
                <a:highlight>
                  <a:srgbClr val="FFFF00"/>
                </a:highlight>
                <a:latin typeface="Aptos Narrow" panose="020B0004020202020204" pitchFamily="34" charset="0"/>
              </a:rPr>
              <a:t>(</a:t>
            </a:r>
            <a:r>
              <a:rPr lang="en-IN" sz="1100" i="1" dirty="0">
                <a:highlight>
                  <a:srgbClr val="FFFF00"/>
                </a:highlight>
                <a:latin typeface="Aptos Narrow" panose="020B0004020202020204" pitchFamily="34" charset="0"/>
                <a:hlinkClick r:id="rId2"/>
              </a:rPr>
              <a:t>https://traveltriangle.com/tour-packages?destination_type=india&amp;</a:t>
            </a:r>
            <a:r>
              <a:rPr lang="en-IN" sz="1100" i="1" dirty="0">
                <a:highlight>
                  <a:srgbClr val="FFFF00"/>
                </a:highlight>
                <a:latin typeface="Aptos Narrow" panose="020B0004020202020204" pitchFamily="34" charset="0"/>
              </a:rPr>
              <a:t>)</a:t>
            </a:r>
          </a:p>
          <a:p>
            <a:pPr marL="114300" indent="0">
              <a:buNone/>
            </a:pPr>
            <a:r>
              <a:rPr lang="en-GB" b="1" i="1" u="sng" dirty="0">
                <a:latin typeface="Aptos Narrow" panose="020B0004020202020204" pitchFamily="34" charset="0"/>
              </a:rPr>
              <a:t>Tools Used :</a:t>
            </a:r>
          </a:p>
          <a:p>
            <a:pPr>
              <a:buFont typeface="Arial" panose="020B0604020202020204" pitchFamily="34" charset="0"/>
              <a:buChar char="•"/>
            </a:pPr>
            <a:r>
              <a:rPr lang="en-GB" sz="2000" i="1" dirty="0">
                <a:latin typeface="Aptos Narrow" panose="020B0004020202020204" pitchFamily="34" charset="0"/>
              </a:rPr>
              <a:t>Python</a:t>
            </a:r>
          </a:p>
          <a:p>
            <a:pPr>
              <a:buFont typeface="Arial" panose="020B0604020202020204" pitchFamily="34" charset="0"/>
              <a:buChar char="•"/>
            </a:pPr>
            <a:r>
              <a:rPr lang="en-GB" sz="2000" i="1" dirty="0">
                <a:latin typeface="Aptos Narrow" panose="020B0004020202020204" pitchFamily="34" charset="0"/>
              </a:rPr>
              <a:t>Requests</a:t>
            </a:r>
          </a:p>
          <a:p>
            <a:pPr>
              <a:buFont typeface="Arial" panose="020B0604020202020204" pitchFamily="34" charset="0"/>
              <a:buChar char="•"/>
            </a:pPr>
            <a:r>
              <a:rPr lang="en-GB" sz="2000" i="1" dirty="0" err="1">
                <a:latin typeface="Aptos Narrow" panose="020B0004020202020204" pitchFamily="34" charset="0"/>
              </a:rPr>
              <a:t>BeautifulSoup</a:t>
            </a:r>
            <a:endParaRPr lang="en-GB" sz="2000" i="1" dirty="0">
              <a:latin typeface="Aptos Narrow" panose="020B0004020202020204" pitchFamily="34" charset="0"/>
            </a:endParaRPr>
          </a:p>
          <a:p>
            <a:pPr>
              <a:buFont typeface="Arial" panose="020B0604020202020204" pitchFamily="34" charset="0"/>
              <a:buChar char="•"/>
            </a:pPr>
            <a:r>
              <a:rPr lang="en-GB" sz="2000" i="1" dirty="0">
                <a:latin typeface="Aptos Narrow" panose="020B0004020202020204" pitchFamily="34" charset="0"/>
              </a:rPr>
              <a:t>Pandas</a:t>
            </a:r>
          </a:p>
          <a:p>
            <a:pPr marL="114300" indent="0">
              <a:buNone/>
            </a:pPr>
            <a:r>
              <a:rPr lang="en-GB" b="1" i="1" u="sng" dirty="0">
                <a:latin typeface="Aptos Narrow" panose="020B0004020202020204" pitchFamily="34" charset="0"/>
              </a:rPr>
              <a:t>Web Scraping Process :</a:t>
            </a:r>
          </a:p>
          <a:p>
            <a:pPr>
              <a:buFont typeface="+mj-lt"/>
              <a:buAutoNum type="arabicPeriod"/>
            </a:pPr>
            <a:r>
              <a:rPr lang="en-GB" sz="2000" i="1" dirty="0">
                <a:latin typeface="Aptos Narrow" panose="020B0004020202020204" pitchFamily="34" charset="0"/>
              </a:rPr>
              <a:t>Sent HTTP requests to multiple pages of the website.</a:t>
            </a:r>
          </a:p>
          <a:p>
            <a:pPr>
              <a:buFont typeface="+mj-lt"/>
              <a:buAutoNum type="arabicPeriod"/>
            </a:pPr>
            <a:r>
              <a:rPr lang="en-GB" sz="2000" i="1" dirty="0">
                <a:latin typeface="Aptos Narrow" panose="020B0004020202020204" pitchFamily="34" charset="0"/>
              </a:rPr>
              <a:t>Parsed HTML content using </a:t>
            </a:r>
            <a:r>
              <a:rPr lang="en-GB" sz="2000" i="1" dirty="0" err="1">
                <a:latin typeface="Aptos Narrow" panose="020B0004020202020204" pitchFamily="34" charset="0"/>
              </a:rPr>
              <a:t>BeautifulSoup</a:t>
            </a:r>
            <a:r>
              <a:rPr lang="en-GB" sz="2000" i="1" dirty="0">
                <a:latin typeface="Aptos Narrow" panose="020B0004020202020204" pitchFamily="34" charset="0"/>
              </a:rPr>
              <a:t>.</a:t>
            </a:r>
          </a:p>
          <a:p>
            <a:pPr>
              <a:buFont typeface="+mj-lt"/>
              <a:buAutoNum type="arabicPeriod"/>
            </a:pPr>
            <a:r>
              <a:rPr lang="en-GB" sz="2000" i="1" dirty="0">
                <a:latin typeface="Aptos Narrow" panose="020B0004020202020204" pitchFamily="34" charset="0"/>
              </a:rPr>
              <a:t>Extracted relevant package details from HTML elements</a:t>
            </a:r>
            <a:r>
              <a:rPr lang="en-GB" sz="2000" dirty="0">
                <a:latin typeface="Aptos Narrow" panose="020B0004020202020204" pitchFamily="34" charset="0"/>
              </a:rPr>
              <a:t>.</a:t>
            </a:r>
          </a:p>
          <a:p>
            <a:pPr marL="114300" indent="0">
              <a:buNone/>
            </a:pPr>
            <a:endParaRPr lang="en-GB" sz="2000" dirty="0">
              <a:latin typeface="Aptos Narrow" panose="020B0004020202020204" pitchFamily="34" charset="0"/>
            </a:endParaRPr>
          </a:p>
        </p:txBody>
      </p:sp>
      <p:pic>
        <p:nvPicPr>
          <p:cNvPr id="1026" name="Picture 2" descr="Personalized Holiday Packages | Customized Tour Packages from multiple  local and trusted travel agents | TT">
            <a:extLst>
              <a:ext uri="{FF2B5EF4-FFF2-40B4-BE49-F238E27FC236}">
                <a16:creationId xmlns:a16="http://schemas.microsoft.com/office/drawing/2014/main" id="{E766EEFB-3700-5360-F162-888FE2CCFC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9317" y="1057402"/>
            <a:ext cx="5901113" cy="26100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44137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B99F0-3CEB-9433-ED54-A6286DEBB77B}"/>
              </a:ext>
            </a:extLst>
          </p:cNvPr>
          <p:cNvSpPr>
            <a:spLocks noGrp="1"/>
          </p:cNvSpPr>
          <p:nvPr>
            <p:ph type="title"/>
          </p:nvPr>
        </p:nvSpPr>
        <p:spPr>
          <a:xfrm>
            <a:off x="670560" y="0"/>
            <a:ext cx="10515600" cy="1325563"/>
          </a:xfrm>
        </p:spPr>
        <p:txBody>
          <a:bodyPr/>
          <a:lstStyle/>
          <a:p>
            <a:r>
              <a:rPr lang="en-IN" b="1" i="1" u="sng" dirty="0">
                <a:latin typeface="Aptos Narrow" panose="020B0004020202020204" pitchFamily="34" charset="0"/>
              </a:rPr>
              <a:t>Summary of the Data :</a:t>
            </a:r>
          </a:p>
        </p:txBody>
      </p:sp>
      <p:sp>
        <p:nvSpPr>
          <p:cNvPr id="3" name="Text Placeholder 2">
            <a:extLst>
              <a:ext uri="{FF2B5EF4-FFF2-40B4-BE49-F238E27FC236}">
                <a16:creationId xmlns:a16="http://schemas.microsoft.com/office/drawing/2014/main" id="{E4F35FB3-2389-B248-5A1A-E6DE38D4143F}"/>
              </a:ext>
            </a:extLst>
          </p:cNvPr>
          <p:cNvSpPr>
            <a:spLocks noGrp="1"/>
          </p:cNvSpPr>
          <p:nvPr>
            <p:ph type="body" idx="1"/>
          </p:nvPr>
        </p:nvSpPr>
        <p:spPr>
          <a:xfrm>
            <a:off x="670560" y="981563"/>
            <a:ext cx="9845040" cy="4351338"/>
          </a:xfrm>
        </p:spPr>
        <p:txBody>
          <a:bodyPr>
            <a:normAutofit/>
          </a:bodyPr>
          <a:lstStyle/>
          <a:p>
            <a:pPr marL="114300" indent="0">
              <a:buNone/>
            </a:pPr>
            <a:r>
              <a:rPr lang="en-IN" sz="2400" b="1" i="1" u="sng" dirty="0">
                <a:latin typeface="Aptos Narrow" panose="020B0004020202020204" pitchFamily="34" charset="0"/>
              </a:rPr>
              <a:t>Dataset Size :</a:t>
            </a:r>
          </a:p>
          <a:p>
            <a:r>
              <a:rPr lang="en-IN" sz="2000" i="1" dirty="0">
                <a:latin typeface="Aptos Narrow" panose="020B0004020202020204" pitchFamily="34" charset="0"/>
              </a:rPr>
              <a:t>1000 Rows &amp; 9 columns</a:t>
            </a:r>
          </a:p>
          <a:p>
            <a:pPr marL="114300" indent="0">
              <a:buNone/>
            </a:pPr>
            <a:endParaRPr lang="en-IN" sz="2000" dirty="0">
              <a:latin typeface="Aptos Narrow" panose="020B0004020202020204" pitchFamily="34" charset="0"/>
            </a:endParaRPr>
          </a:p>
        </p:txBody>
      </p:sp>
      <p:graphicFrame>
        <p:nvGraphicFramePr>
          <p:cNvPr id="4" name="Table 3">
            <a:extLst>
              <a:ext uri="{FF2B5EF4-FFF2-40B4-BE49-F238E27FC236}">
                <a16:creationId xmlns:a16="http://schemas.microsoft.com/office/drawing/2014/main" id="{A13F48BA-6B1F-6190-C3D4-3BA9DA5CEEB2}"/>
              </a:ext>
            </a:extLst>
          </p:cNvPr>
          <p:cNvGraphicFramePr>
            <a:graphicFrameLocks noGrp="1"/>
          </p:cNvGraphicFramePr>
          <p:nvPr>
            <p:extLst>
              <p:ext uri="{D42A27DB-BD31-4B8C-83A1-F6EECF244321}">
                <p14:modId xmlns:p14="http://schemas.microsoft.com/office/powerpoint/2010/main" val="981400494"/>
              </p:ext>
            </p:extLst>
          </p:nvPr>
        </p:nvGraphicFramePr>
        <p:xfrm>
          <a:off x="1039443" y="2138821"/>
          <a:ext cx="7244862" cy="3194080"/>
        </p:xfrm>
        <a:graphic>
          <a:graphicData uri="http://schemas.openxmlformats.org/drawingml/2006/table">
            <a:tbl>
              <a:tblPr/>
              <a:tblGrid>
                <a:gridCol w="3337282">
                  <a:extLst>
                    <a:ext uri="{9D8B030D-6E8A-4147-A177-3AD203B41FA5}">
                      <a16:colId xmlns:a16="http://schemas.microsoft.com/office/drawing/2014/main" val="3037916703"/>
                    </a:ext>
                  </a:extLst>
                </a:gridCol>
                <a:gridCol w="3907580">
                  <a:extLst>
                    <a:ext uri="{9D8B030D-6E8A-4147-A177-3AD203B41FA5}">
                      <a16:colId xmlns:a16="http://schemas.microsoft.com/office/drawing/2014/main" val="4049289646"/>
                    </a:ext>
                  </a:extLst>
                </a:gridCol>
              </a:tblGrid>
              <a:tr h="319408">
                <a:tc>
                  <a:txBody>
                    <a:bodyPr/>
                    <a:lstStyle/>
                    <a:p>
                      <a:r>
                        <a:rPr lang="en-IN" b="1" i="1" dirty="0"/>
                        <a:t>Variable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r>
                        <a:rPr lang="en-IN" b="1" i="1" dirty="0"/>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3345709057"/>
                  </a:ext>
                </a:extLst>
              </a:tr>
              <a:tr h="319408">
                <a:tc>
                  <a:txBody>
                    <a:bodyPr/>
                    <a:lstStyle/>
                    <a:p>
                      <a:r>
                        <a:rPr lang="en-IN" i="1" dirty="0"/>
                        <a:t>Location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i="1"/>
                        <a:t>Travel destination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27686097"/>
                  </a:ext>
                </a:extLst>
              </a:tr>
              <a:tr h="319408">
                <a:tc>
                  <a:txBody>
                    <a:bodyPr/>
                    <a:lstStyle/>
                    <a:p>
                      <a:r>
                        <a:rPr lang="en-IN" i="1"/>
                        <a:t>Discount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i="1" dirty="0"/>
                        <a:t>Discount percentage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38556008"/>
                  </a:ext>
                </a:extLst>
              </a:tr>
              <a:tr h="319408">
                <a:tc>
                  <a:txBody>
                    <a:bodyPr/>
                    <a:lstStyle/>
                    <a:p>
                      <a:r>
                        <a:rPr lang="en-IN" i="1"/>
                        <a:t>Discount_Price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i="1"/>
                        <a:t>Price after discount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171184"/>
                  </a:ext>
                </a:extLst>
              </a:tr>
              <a:tr h="319408">
                <a:tc>
                  <a:txBody>
                    <a:bodyPr/>
                    <a:lstStyle/>
                    <a:p>
                      <a:r>
                        <a:rPr lang="en-IN" i="1"/>
                        <a:t>Original_Price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i="1"/>
                        <a:t>Actual package price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5471411"/>
                  </a:ext>
                </a:extLst>
              </a:tr>
              <a:tr h="319408">
                <a:tc>
                  <a:txBody>
                    <a:bodyPr/>
                    <a:lstStyle/>
                    <a:p>
                      <a:r>
                        <a:rPr lang="en-IN" i="1"/>
                        <a:t>Rating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i="1"/>
                        <a:t>Customer rating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73596852"/>
                  </a:ext>
                </a:extLst>
              </a:tr>
              <a:tr h="319408">
                <a:tc>
                  <a:txBody>
                    <a:bodyPr/>
                    <a:lstStyle/>
                    <a:p>
                      <a:r>
                        <a:rPr lang="en-IN" i="1"/>
                        <a:t>Days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i="1"/>
                        <a:t>Trip duration in days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65476871"/>
                  </a:ext>
                </a:extLst>
              </a:tr>
              <a:tr h="319408">
                <a:tc>
                  <a:txBody>
                    <a:bodyPr/>
                    <a:lstStyle/>
                    <a:p>
                      <a:r>
                        <a:rPr lang="en-IN" i="1"/>
                        <a:t>Nights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i="1"/>
                        <a:t>Trip duration in nights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63889847"/>
                  </a:ext>
                </a:extLst>
              </a:tr>
              <a:tr h="319408">
                <a:tc>
                  <a:txBody>
                    <a:bodyPr/>
                    <a:lstStyle/>
                    <a:p>
                      <a:r>
                        <a:rPr lang="en-IN" i="1"/>
                        <a:t>Savings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i="1" dirty="0"/>
                        <a:t>Money saved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36655058"/>
                  </a:ext>
                </a:extLst>
              </a:tr>
              <a:tr h="319408">
                <a:tc>
                  <a:txBody>
                    <a:bodyPr/>
                    <a:lstStyle/>
                    <a:p>
                      <a:r>
                        <a:rPr lang="en-IN" i="1"/>
                        <a:t>Savings_Percentage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i="1" dirty="0"/>
                        <a:t>Percentage savings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89402503"/>
                  </a:ext>
                </a:extLst>
              </a:tr>
            </a:tbl>
          </a:graphicData>
        </a:graphic>
      </p:graphicFrame>
    </p:spTree>
    <p:extLst>
      <p:ext uri="{BB962C8B-B14F-4D97-AF65-F5344CB8AC3E}">
        <p14:creationId xmlns:p14="http://schemas.microsoft.com/office/powerpoint/2010/main" val="23062871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32D4F1B-71AF-083D-2173-878467CEC8C6}"/>
              </a:ext>
            </a:extLst>
          </p:cNvPr>
          <p:cNvGraphicFramePr>
            <a:graphicFrameLocks noGrp="1"/>
          </p:cNvGraphicFramePr>
          <p:nvPr>
            <p:extLst>
              <p:ext uri="{D42A27DB-BD31-4B8C-83A1-F6EECF244321}">
                <p14:modId xmlns:p14="http://schemas.microsoft.com/office/powerpoint/2010/main" val="1738505627"/>
              </p:ext>
            </p:extLst>
          </p:nvPr>
        </p:nvGraphicFramePr>
        <p:xfrm>
          <a:off x="6543040" y="751840"/>
          <a:ext cx="5307424" cy="5201920"/>
        </p:xfrm>
        <a:graphic>
          <a:graphicData uri="http://schemas.openxmlformats.org/drawingml/2006/table">
            <a:tbl>
              <a:tblPr/>
              <a:tblGrid>
                <a:gridCol w="2444818">
                  <a:extLst>
                    <a:ext uri="{9D8B030D-6E8A-4147-A177-3AD203B41FA5}">
                      <a16:colId xmlns:a16="http://schemas.microsoft.com/office/drawing/2014/main" val="3037916703"/>
                    </a:ext>
                  </a:extLst>
                </a:gridCol>
                <a:gridCol w="2862606">
                  <a:extLst>
                    <a:ext uri="{9D8B030D-6E8A-4147-A177-3AD203B41FA5}">
                      <a16:colId xmlns:a16="http://schemas.microsoft.com/office/drawing/2014/main" val="4049289646"/>
                    </a:ext>
                  </a:extLst>
                </a:gridCol>
              </a:tblGrid>
              <a:tr h="520192">
                <a:tc>
                  <a:txBody>
                    <a:bodyPr/>
                    <a:lstStyle/>
                    <a:p>
                      <a:r>
                        <a:rPr lang="en-IN" b="1" i="1" dirty="0"/>
                        <a:t>Variable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r>
                        <a:rPr lang="en-IN" b="1" i="1" dirty="0"/>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3345709057"/>
                  </a:ext>
                </a:extLst>
              </a:tr>
              <a:tr h="520192">
                <a:tc>
                  <a:txBody>
                    <a:bodyPr/>
                    <a:lstStyle/>
                    <a:p>
                      <a:r>
                        <a:rPr lang="en-IN" i="1" dirty="0"/>
                        <a:t>Location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i="1"/>
                        <a:t>Travel destination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27686097"/>
                  </a:ext>
                </a:extLst>
              </a:tr>
              <a:tr h="520192">
                <a:tc>
                  <a:txBody>
                    <a:bodyPr/>
                    <a:lstStyle/>
                    <a:p>
                      <a:r>
                        <a:rPr lang="en-IN" i="1"/>
                        <a:t>Discount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i="1"/>
                        <a:t>Discount percentage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38556008"/>
                  </a:ext>
                </a:extLst>
              </a:tr>
              <a:tr h="520192">
                <a:tc>
                  <a:txBody>
                    <a:bodyPr/>
                    <a:lstStyle/>
                    <a:p>
                      <a:r>
                        <a:rPr lang="en-IN" i="1"/>
                        <a:t>Discount_Price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i="1"/>
                        <a:t>Price after discount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171184"/>
                  </a:ext>
                </a:extLst>
              </a:tr>
              <a:tr h="520192">
                <a:tc>
                  <a:txBody>
                    <a:bodyPr/>
                    <a:lstStyle/>
                    <a:p>
                      <a:r>
                        <a:rPr lang="en-IN" i="1"/>
                        <a:t>Original_Price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i="1"/>
                        <a:t>Actual package price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5471411"/>
                  </a:ext>
                </a:extLst>
              </a:tr>
              <a:tr h="520192">
                <a:tc>
                  <a:txBody>
                    <a:bodyPr/>
                    <a:lstStyle/>
                    <a:p>
                      <a:r>
                        <a:rPr lang="en-IN" i="1"/>
                        <a:t>Rating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i="1"/>
                        <a:t>Customer rating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73596852"/>
                  </a:ext>
                </a:extLst>
              </a:tr>
              <a:tr h="520192">
                <a:tc>
                  <a:txBody>
                    <a:bodyPr/>
                    <a:lstStyle/>
                    <a:p>
                      <a:r>
                        <a:rPr lang="en-IN" i="1"/>
                        <a:t>Days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i="1"/>
                        <a:t>Trip duration in days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65476871"/>
                  </a:ext>
                </a:extLst>
              </a:tr>
              <a:tr h="520192">
                <a:tc>
                  <a:txBody>
                    <a:bodyPr/>
                    <a:lstStyle/>
                    <a:p>
                      <a:r>
                        <a:rPr lang="en-IN" i="1"/>
                        <a:t>Nights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i="1"/>
                        <a:t>Trip duration in nights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63889847"/>
                  </a:ext>
                </a:extLst>
              </a:tr>
              <a:tr h="520192">
                <a:tc>
                  <a:txBody>
                    <a:bodyPr/>
                    <a:lstStyle/>
                    <a:p>
                      <a:r>
                        <a:rPr lang="en-IN" i="1"/>
                        <a:t>Savings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i="1" dirty="0"/>
                        <a:t>Money saved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36655058"/>
                  </a:ext>
                </a:extLst>
              </a:tr>
              <a:tr h="520192">
                <a:tc>
                  <a:txBody>
                    <a:bodyPr/>
                    <a:lstStyle/>
                    <a:p>
                      <a:r>
                        <a:rPr lang="en-IN" i="1"/>
                        <a:t>Savings_Percentage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i="1" dirty="0"/>
                        <a:t>Percentage savings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89402503"/>
                  </a:ext>
                </a:extLst>
              </a:tr>
            </a:tbl>
          </a:graphicData>
        </a:graphic>
      </p:graphicFrame>
      <p:graphicFrame>
        <p:nvGraphicFramePr>
          <p:cNvPr id="3" name="Table 2">
            <a:extLst>
              <a:ext uri="{FF2B5EF4-FFF2-40B4-BE49-F238E27FC236}">
                <a16:creationId xmlns:a16="http://schemas.microsoft.com/office/drawing/2014/main" id="{1968700C-4EA7-2CB3-3656-88A558B59013}"/>
              </a:ext>
            </a:extLst>
          </p:cNvPr>
          <p:cNvGraphicFramePr>
            <a:graphicFrameLocks noGrp="1"/>
          </p:cNvGraphicFramePr>
          <p:nvPr>
            <p:extLst>
              <p:ext uri="{D42A27DB-BD31-4B8C-83A1-F6EECF244321}">
                <p14:modId xmlns:p14="http://schemas.microsoft.com/office/powerpoint/2010/main" val="2050677691"/>
              </p:ext>
            </p:extLst>
          </p:nvPr>
        </p:nvGraphicFramePr>
        <p:xfrm>
          <a:off x="514256" y="751840"/>
          <a:ext cx="4551680" cy="5201920"/>
        </p:xfrm>
        <a:graphic>
          <a:graphicData uri="http://schemas.openxmlformats.org/drawingml/2006/table">
            <a:tbl>
              <a:tblPr firstRow="1" bandRow="1">
                <a:tableStyleId>{74C1A8A3-306A-4EB7-A6B1-4F7E0EB9C5D6}</a:tableStyleId>
              </a:tblPr>
              <a:tblGrid>
                <a:gridCol w="2275840">
                  <a:extLst>
                    <a:ext uri="{9D8B030D-6E8A-4147-A177-3AD203B41FA5}">
                      <a16:colId xmlns:a16="http://schemas.microsoft.com/office/drawing/2014/main" val="2063378837"/>
                    </a:ext>
                  </a:extLst>
                </a:gridCol>
                <a:gridCol w="2275840">
                  <a:extLst>
                    <a:ext uri="{9D8B030D-6E8A-4147-A177-3AD203B41FA5}">
                      <a16:colId xmlns:a16="http://schemas.microsoft.com/office/drawing/2014/main" val="1698284217"/>
                    </a:ext>
                  </a:extLst>
                </a:gridCol>
              </a:tblGrid>
              <a:tr h="520192">
                <a:tc>
                  <a:txBody>
                    <a:bodyPr/>
                    <a:lstStyle/>
                    <a:p>
                      <a:r>
                        <a:rPr lang="en-IN" b="1" i="1" dirty="0">
                          <a:solidFill>
                            <a:schemeClr val="tx1"/>
                          </a:solidFill>
                        </a:rPr>
                        <a:t>Variable</a:t>
                      </a:r>
                      <a:endParaRPr lang="en-IN" b="0" dirty="0">
                        <a:ln>
                          <a:solidFill>
                            <a:schemeClr val="tx1"/>
                          </a:solidFill>
                        </a:l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r>
                        <a:rPr lang="en-GB">
                          <a:solidFill>
                            <a:schemeClr val="tx1"/>
                          </a:solidFill>
                        </a:rPr>
                        <a:t>Description</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2314216923"/>
                  </a:ext>
                </a:extLst>
              </a:tr>
              <a:tr h="520192">
                <a:tc>
                  <a:txBody>
                    <a:bodyPr/>
                    <a:lstStyle/>
                    <a:p>
                      <a:r>
                        <a:rPr lang="en-GB"/>
                        <a:t>Name</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a:t>Package Name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1301612"/>
                  </a:ext>
                </a:extLst>
              </a:tr>
              <a:tr h="520192">
                <a:tc>
                  <a:txBody>
                    <a:bodyPr/>
                    <a:lstStyle/>
                    <a:p>
                      <a:r>
                        <a:rPr lang="en-GB"/>
                        <a:t>Stay</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a:t>Days &amp; Nights</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5728045"/>
                  </a:ext>
                </a:extLst>
              </a:tr>
              <a:tr h="520192">
                <a:tc>
                  <a:txBody>
                    <a:bodyPr/>
                    <a:lstStyle/>
                    <a:p>
                      <a:r>
                        <a:rPr lang="en-GB" dirty="0"/>
                        <a:t>Location</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a:t>Destination Place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63624146"/>
                  </a:ext>
                </a:extLst>
              </a:tr>
              <a:tr h="520192">
                <a:tc>
                  <a:txBody>
                    <a:bodyPr/>
                    <a:lstStyle/>
                    <a:p>
                      <a:r>
                        <a:rPr lang="en-GB"/>
                        <a:t>Discount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a:t>Discount percent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2804903"/>
                  </a:ext>
                </a:extLst>
              </a:tr>
              <a:tr h="520192">
                <a:tc>
                  <a:txBody>
                    <a:bodyPr/>
                    <a:lstStyle/>
                    <a:p>
                      <a:r>
                        <a:rPr lang="en-GB"/>
                        <a:t>Discount Price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a:t>Price after Discount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49613789"/>
                  </a:ext>
                </a:extLst>
              </a:tr>
              <a:tr h="520192">
                <a:tc>
                  <a:txBody>
                    <a:bodyPr/>
                    <a:lstStyle/>
                    <a:p>
                      <a:r>
                        <a:rPr lang="en-GB"/>
                        <a:t>Original Price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a:t>Price Before Discount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62498217"/>
                  </a:ext>
                </a:extLst>
              </a:tr>
              <a:tr h="520192">
                <a:tc>
                  <a:txBody>
                    <a:bodyPr/>
                    <a:lstStyle/>
                    <a:p>
                      <a:r>
                        <a:rPr lang="en-GB"/>
                        <a:t>Rating </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a:t>Customer Rating About Trip</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3224638"/>
                  </a:ext>
                </a:extLst>
              </a:tr>
              <a:tr h="520192">
                <a:tc>
                  <a:txBody>
                    <a:bodyPr/>
                    <a:lstStyle/>
                    <a:p>
                      <a:r>
                        <a:rPr lang="en-GB"/>
                        <a:t>Packages</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a:t>Places Covered In Package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26002646"/>
                  </a:ext>
                </a:extLst>
              </a:tr>
              <a:tr h="520192">
                <a:tc>
                  <a:txBody>
                    <a:bodyPr/>
                    <a:lstStyle/>
                    <a:p>
                      <a:r>
                        <a:rPr lang="en-GB"/>
                        <a:t>Page No</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dirty="0"/>
                        <a:t>In which Page No The Package Consist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48371142"/>
                  </a:ext>
                </a:extLst>
              </a:tr>
            </a:tbl>
          </a:graphicData>
        </a:graphic>
      </p:graphicFrame>
      <p:sp>
        <p:nvSpPr>
          <p:cNvPr id="5" name="TextBox 4">
            <a:extLst>
              <a:ext uri="{FF2B5EF4-FFF2-40B4-BE49-F238E27FC236}">
                <a16:creationId xmlns:a16="http://schemas.microsoft.com/office/drawing/2014/main" id="{8B9488C2-C353-B776-0452-43085AA85D78}"/>
              </a:ext>
            </a:extLst>
          </p:cNvPr>
          <p:cNvSpPr txBox="1"/>
          <p:nvPr/>
        </p:nvSpPr>
        <p:spPr>
          <a:xfrm>
            <a:off x="1940560" y="223520"/>
            <a:ext cx="2397760" cy="400110"/>
          </a:xfrm>
          <a:prstGeom prst="rect">
            <a:avLst/>
          </a:prstGeom>
          <a:noFill/>
        </p:spPr>
        <p:txBody>
          <a:bodyPr wrap="square" rtlCol="0">
            <a:spAutoFit/>
          </a:bodyPr>
          <a:lstStyle/>
          <a:p>
            <a:r>
              <a:rPr lang="en-GB" sz="2000" b="1" i="1" u="sng" dirty="0">
                <a:latin typeface="Aptos Narrow" panose="020B0004020202020204" pitchFamily="34" charset="0"/>
              </a:rPr>
              <a:t>Raw Data</a:t>
            </a:r>
            <a:endParaRPr lang="en-IN" sz="2000" b="1" i="1" u="sng" dirty="0">
              <a:latin typeface="Aptos Narrow" panose="020B0004020202020204" pitchFamily="34" charset="0"/>
            </a:endParaRPr>
          </a:p>
        </p:txBody>
      </p:sp>
      <p:sp>
        <p:nvSpPr>
          <p:cNvPr id="6" name="TextBox 5">
            <a:extLst>
              <a:ext uri="{FF2B5EF4-FFF2-40B4-BE49-F238E27FC236}">
                <a16:creationId xmlns:a16="http://schemas.microsoft.com/office/drawing/2014/main" id="{AE853B91-96B2-053D-8556-CD04E402992F}"/>
              </a:ext>
            </a:extLst>
          </p:cNvPr>
          <p:cNvSpPr txBox="1"/>
          <p:nvPr/>
        </p:nvSpPr>
        <p:spPr>
          <a:xfrm>
            <a:off x="8262032" y="223520"/>
            <a:ext cx="2397760" cy="400110"/>
          </a:xfrm>
          <a:prstGeom prst="rect">
            <a:avLst/>
          </a:prstGeom>
          <a:noFill/>
        </p:spPr>
        <p:txBody>
          <a:bodyPr wrap="square" rtlCol="0">
            <a:spAutoFit/>
          </a:bodyPr>
          <a:lstStyle/>
          <a:p>
            <a:r>
              <a:rPr lang="en-GB" sz="2000" b="1" i="1" u="sng" dirty="0">
                <a:latin typeface="Aptos Narrow" panose="020B0004020202020204" pitchFamily="34" charset="0"/>
              </a:rPr>
              <a:t>Cleaned Data</a:t>
            </a:r>
            <a:endParaRPr lang="en-IN" sz="2000" b="1" i="1" u="sng" dirty="0">
              <a:latin typeface="Aptos Narrow" panose="020B0004020202020204" pitchFamily="34" charset="0"/>
            </a:endParaRPr>
          </a:p>
        </p:txBody>
      </p:sp>
    </p:spTree>
    <p:extLst>
      <p:ext uri="{BB962C8B-B14F-4D97-AF65-F5344CB8AC3E}">
        <p14:creationId xmlns:p14="http://schemas.microsoft.com/office/powerpoint/2010/main" val="35690138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BA33E-E3BB-DDB3-7BB0-1211EA98CC55}"/>
              </a:ext>
            </a:extLst>
          </p:cNvPr>
          <p:cNvSpPr>
            <a:spLocks noGrp="1"/>
          </p:cNvSpPr>
          <p:nvPr>
            <p:ph type="title"/>
          </p:nvPr>
        </p:nvSpPr>
        <p:spPr>
          <a:xfrm>
            <a:off x="345440" y="-108531"/>
            <a:ext cx="10515600" cy="1325563"/>
          </a:xfrm>
        </p:spPr>
        <p:txBody>
          <a:bodyPr>
            <a:normAutofit/>
          </a:bodyPr>
          <a:lstStyle/>
          <a:p>
            <a:r>
              <a:rPr lang="en-IN" sz="3600" b="1" i="1" u="sng" dirty="0">
                <a:latin typeface="Aptos Narrow" panose="020B0004020202020204" pitchFamily="34" charset="0"/>
              </a:rPr>
              <a:t>Exploratory Data Analysis (EDA) :</a:t>
            </a:r>
          </a:p>
        </p:txBody>
      </p:sp>
      <p:sp>
        <p:nvSpPr>
          <p:cNvPr id="3" name="Text Placeholder 2">
            <a:extLst>
              <a:ext uri="{FF2B5EF4-FFF2-40B4-BE49-F238E27FC236}">
                <a16:creationId xmlns:a16="http://schemas.microsoft.com/office/drawing/2014/main" id="{E490A175-91C6-F27E-AFF6-4CE9E89B1C28}"/>
              </a:ext>
            </a:extLst>
          </p:cNvPr>
          <p:cNvSpPr>
            <a:spLocks noGrp="1"/>
          </p:cNvSpPr>
          <p:nvPr>
            <p:ph type="body" idx="1"/>
          </p:nvPr>
        </p:nvSpPr>
        <p:spPr>
          <a:xfrm>
            <a:off x="213360" y="735228"/>
            <a:ext cx="12074013" cy="3916413"/>
          </a:xfrm>
        </p:spPr>
        <p:txBody>
          <a:bodyPr>
            <a:normAutofit/>
          </a:bodyPr>
          <a:lstStyle/>
          <a:p>
            <a:pPr marL="114300" indent="0">
              <a:buNone/>
            </a:pPr>
            <a:r>
              <a:rPr lang="en-GB" sz="2400" i="1" dirty="0">
                <a:latin typeface="Aptos Narrow" panose="020B0004020202020204" pitchFamily="34" charset="0"/>
              </a:rPr>
              <a:t>Exploratory Data Analysis was performed to understand the structure of the dataset and identify patterns in travel package pricing</a:t>
            </a:r>
          </a:p>
          <a:p>
            <a:pPr marL="114300" indent="0">
              <a:buNone/>
            </a:pPr>
            <a:endParaRPr lang="en-GB" sz="2000" i="1" dirty="0">
              <a:latin typeface="Aptos Narrow" panose="020B0004020202020204" pitchFamily="34" charset="0"/>
            </a:endParaRPr>
          </a:p>
          <a:p>
            <a:pPr marL="114300" indent="0">
              <a:buNone/>
            </a:pPr>
            <a:r>
              <a:rPr lang="en-GB" sz="3600" b="1" i="1" u="sng" dirty="0">
                <a:latin typeface="Aptos Narrow" panose="020B0004020202020204" pitchFamily="34" charset="0"/>
              </a:rPr>
              <a:t>EDA helps to:</a:t>
            </a:r>
          </a:p>
          <a:p>
            <a:pPr>
              <a:buFont typeface="Arial" panose="020B0604020202020204" pitchFamily="34" charset="0"/>
              <a:buChar char="•"/>
            </a:pPr>
            <a:r>
              <a:rPr lang="en-GB" sz="2400" i="1" dirty="0">
                <a:latin typeface="Aptos Narrow" panose="020B0004020202020204" pitchFamily="34" charset="0"/>
              </a:rPr>
              <a:t>Understand data distribution</a:t>
            </a:r>
          </a:p>
          <a:p>
            <a:pPr>
              <a:buFont typeface="Arial" panose="020B0604020202020204" pitchFamily="34" charset="0"/>
              <a:buChar char="•"/>
            </a:pPr>
            <a:r>
              <a:rPr lang="en-GB" sz="2400" i="1" dirty="0">
                <a:latin typeface="Aptos Narrow" panose="020B0004020202020204" pitchFamily="34" charset="0"/>
              </a:rPr>
              <a:t>Detect anomalies and outliers</a:t>
            </a:r>
          </a:p>
          <a:p>
            <a:pPr>
              <a:buFont typeface="Arial" panose="020B0604020202020204" pitchFamily="34" charset="0"/>
              <a:buChar char="•"/>
            </a:pPr>
            <a:r>
              <a:rPr lang="en-GB" sz="2400" i="1" dirty="0">
                <a:latin typeface="Aptos Narrow" panose="020B0004020202020204" pitchFamily="34" charset="0"/>
              </a:rPr>
              <a:t>Identify relationships between variables</a:t>
            </a:r>
          </a:p>
          <a:p>
            <a:pPr>
              <a:buFont typeface="Arial" panose="020B0604020202020204" pitchFamily="34" charset="0"/>
              <a:buChar char="•"/>
            </a:pPr>
            <a:r>
              <a:rPr lang="en-GB" sz="2400" i="1" dirty="0">
                <a:latin typeface="Aptos Narrow" panose="020B0004020202020204" pitchFamily="34" charset="0"/>
              </a:rPr>
              <a:t>Extract meaningful insights from the dataset</a:t>
            </a:r>
          </a:p>
          <a:p>
            <a:pPr marL="114300" indent="0">
              <a:buNone/>
            </a:pPr>
            <a:endParaRPr lang="en-IN" sz="2000" dirty="0">
              <a:latin typeface="Aptos Narrow" panose="020B0004020202020204" pitchFamily="34" charset="0"/>
            </a:endParaRPr>
          </a:p>
        </p:txBody>
      </p:sp>
      <p:sp>
        <p:nvSpPr>
          <p:cNvPr id="15" name="Rectangle: Rounded Corners 14">
            <a:extLst>
              <a:ext uri="{FF2B5EF4-FFF2-40B4-BE49-F238E27FC236}">
                <a16:creationId xmlns:a16="http://schemas.microsoft.com/office/drawing/2014/main" id="{1686AC7E-E10D-EE8A-C1DF-5B77A3CDED03}"/>
              </a:ext>
            </a:extLst>
          </p:cNvPr>
          <p:cNvSpPr/>
          <p:nvPr/>
        </p:nvSpPr>
        <p:spPr>
          <a:xfrm>
            <a:off x="7934632" y="1399417"/>
            <a:ext cx="2595716" cy="478544"/>
          </a:xfrm>
          <a:prstGeom prst="roundRect">
            <a:avLst>
              <a:gd name="adj" fmla="val 50000"/>
            </a:avLst>
          </a:prstGeom>
        </p:spPr>
        <p:style>
          <a:lnRef idx="1">
            <a:schemeClr val="accent3"/>
          </a:lnRef>
          <a:fillRef idx="2">
            <a:schemeClr val="accent3"/>
          </a:fillRef>
          <a:effectRef idx="1">
            <a:schemeClr val="accent3"/>
          </a:effectRef>
          <a:fontRef idx="minor">
            <a:schemeClr val="dk1"/>
          </a:fontRef>
        </p:style>
        <p:txBody>
          <a:bodyPr rtlCol="0" anchor="ctr"/>
          <a:lstStyle/>
          <a:p>
            <a:r>
              <a:rPr lang="en-IN" sz="2400" dirty="0">
                <a:latin typeface="Aptos Narrow" panose="020B0004020202020204" pitchFamily="34" charset="0"/>
              </a:rPr>
              <a:t>    Data Collection</a:t>
            </a:r>
          </a:p>
        </p:txBody>
      </p:sp>
      <p:sp>
        <p:nvSpPr>
          <p:cNvPr id="19" name="Arrow: Down 18">
            <a:extLst>
              <a:ext uri="{FF2B5EF4-FFF2-40B4-BE49-F238E27FC236}">
                <a16:creationId xmlns:a16="http://schemas.microsoft.com/office/drawing/2014/main" id="{27D1F671-A5EB-F917-0025-C73A1AE75444}"/>
              </a:ext>
            </a:extLst>
          </p:cNvPr>
          <p:cNvSpPr/>
          <p:nvPr/>
        </p:nvSpPr>
        <p:spPr>
          <a:xfrm>
            <a:off x="9075174" y="1988441"/>
            <a:ext cx="314632" cy="353962"/>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ln>
                <a:solidFill>
                  <a:sysClr val="windowText" lastClr="000000"/>
                </a:solidFill>
              </a:ln>
            </a:endParaRPr>
          </a:p>
        </p:txBody>
      </p:sp>
      <p:sp>
        <p:nvSpPr>
          <p:cNvPr id="20" name="Arrow: Down 19">
            <a:extLst>
              <a:ext uri="{FF2B5EF4-FFF2-40B4-BE49-F238E27FC236}">
                <a16:creationId xmlns:a16="http://schemas.microsoft.com/office/drawing/2014/main" id="{4C685318-5E76-A3B0-C0A5-82CCD0B8FCF7}"/>
              </a:ext>
            </a:extLst>
          </p:cNvPr>
          <p:cNvSpPr/>
          <p:nvPr/>
        </p:nvSpPr>
        <p:spPr>
          <a:xfrm>
            <a:off x="9075174" y="4095349"/>
            <a:ext cx="314632" cy="353962"/>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ln>
                <a:solidFill>
                  <a:sysClr val="windowText" lastClr="000000"/>
                </a:solidFill>
              </a:ln>
            </a:endParaRPr>
          </a:p>
        </p:txBody>
      </p:sp>
      <p:sp>
        <p:nvSpPr>
          <p:cNvPr id="22" name="Arrow: Down 21">
            <a:extLst>
              <a:ext uri="{FF2B5EF4-FFF2-40B4-BE49-F238E27FC236}">
                <a16:creationId xmlns:a16="http://schemas.microsoft.com/office/drawing/2014/main" id="{88E85837-E043-9506-8766-7BF151E799A4}"/>
              </a:ext>
            </a:extLst>
          </p:cNvPr>
          <p:cNvSpPr/>
          <p:nvPr/>
        </p:nvSpPr>
        <p:spPr>
          <a:xfrm>
            <a:off x="9075174" y="3038677"/>
            <a:ext cx="314632" cy="353962"/>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ln>
                <a:solidFill>
                  <a:sysClr val="windowText" lastClr="000000"/>
                </a:solidFill>
              </a:ln>
            </a:endParaRPr>
          </a:p>
        </p:txBody>
      </p:sp>
      <p:sp>
        <p:nvSpPr>
          <p:cNvPr id="23" name="Rectangle: Rounded Corners 22">
            <a:extLst>
              <a:ext uri="{FF2B5EF4-FFF2-40B4-BE49-F238E27FC236}">
                <a16:creationId xmlns:a16="http://schemas.microsoft.com/office/drawing/2014/main" id="{F70C0974-8B71-5C27-3661-7734BD9E790A}"/>
              </a:ext>
            </a:extLst>
          </p:cNvPr>
          <p:cNvSpPr/>
          <p:nvPr/>
        </p:nvSpPr>
        <p:spPr>
          <a:xfrm>
            <a:off x="7934632" y="4522849"/>
            <a:ext cx="2595716" cy="478544"/>
          </a:xfrm>
          <a:prstGeom prst="roundRect">
            <a:avLst>
              <a:gd name="adj" fmla="val 50000"/>
            </a:avLst>
          </a:prstGeom>
        </p:spPr>
        <p:style>
          <a:lnRef idx="1">
            <a:schemeClr val="accent3"/>
          </a:lnRef>
          <a:fillRef idx="2">
            <a:schemeClr val="accent3"/>
          </a:fillRef>
          <a:effectRef idx="1">
            <a:schemeClr val="accent3"/>
          </a:effectRef>
          <a:fontRef idx="minor">
            <a:schemeClr val="dk1"/>
          </a:fontRef>
        </p:style>
        <p:txBody>
          <a:bodyPr rtlCol="0" anchor="ctr"/>
          <a:lstStyle/>
          <a:p>
            <a:r>
              <a:rPr lang="en-IN" sz="2400" dirty="0">
                <a:latin typeface="Aptos Narrow" panose="020B0004020202020204" pitchFamily="34" charset="0"/>
              </a:rPr>
              <a:t>Data Visualization</a:t>
            </a:r>
          </a:p>
        </p:txBody>
      </p:sp>
      <p:sp>
        <p:nvSpPr>
          <p:cNvPr id="24" name="Rectangle: Rounded Corners 23">
            <a:extLst>
              <a:ext uri="{FF2B5EF4-FFF2-40B4-BE49-F238E27FC236}">
                <a16:creationId xmlns:a16="http://schemas.microsoft.com/office/drawing/2014/main" id="{130EB9ED-DE23-13DF-7C7D-0464CF18A59C}"/>
              </a:ext>
            </a:extLst>
          </p:cNvPr>
          <p:cNvSpPr/>
          <p:nvPr/>
        </p:nvSpPr>
        <p:spPr>
          <a:xfrm>
            <a:off x="7934632" y="3506325"/>
            <a:ext cx="2595716" cy="478544"/>
          </a:xfrm>
          <a:prstGeom prst="roundRect">
            <a:avLst>
              <a:gd name="adj" fmla="val 50000"/>
            </a:avLst>
          </a:prstGeom>
        </p:spPr>
        <p:style>
          <a:lnRef idx="1">
            <a:schemeClr val="accent3"/>
          </a:lnRef>
          <a:fillRef idx="2">
            <a:schemeClr val="accent3"/>
          </a:fillRef>
          <a:effectRef idx="1">
            <a:schemeClr val="accent3"/>
          </a:effectRef>
          <a:fontRef idx="minor">
            <a:schemeClr val="dk1"/>
          </a:fontRef>
        </p:style>
        <p:txBody>
          <a:bodyPr rtlCol="0" anchor="ctr"/>
          <a:lstStyle/>
          <a:p>
            <a:r>
              <a:rPr lang="en-IN" sz="2400" dirty="0">
                <a:latin typeface="Aptos Narrow" panose="020B0004020202020204" pitchFamily="34" charset="0"/>
              </a:rPr>
              <a:t>   Data Exploration</a:t>
            </a:r>
          </a:p>
        </p:txBody>
      </p:sp>
      <p:sp>
        <p:nvSpPr>
          <p:cNvPr id="26" name="Rectangle: Rounded Corners 25">
            <a:extLst>
              <a:ext uri="{FF2B5EF4-FFF2-40B4-BE49-F238E27FC236}">
                <a16:creationId xmlns:a16="http://schemas.microsoft.com/office/drawing/2014/main" id="{3B4C904B-37D1-7D5B-FB4B-DE7895C4BC6A}"/>
              </a:ext>
            </a:extLst>
          </p:cNvPr>
          <p:cNvSpPr/>
          <p:nvPr/>
        </p:nvSpPr>
        <p:spPr>
          <a:xfrm>
            <a:off x="7934632" y="2427100"/>
            <a:ext cx="2595716" cy="478544"/>
          </a:xfrm>
          <a:prstGeom prst="roundRect">
            <a:avLst>
              <a:gd name="adj" fmla="val 50000"/>
            </a:avLst>
          </a:prstGeom>
        </p:spPr>
        <p:style>
          <a:lnRef idx="1">
            <a:schemeClr val="accent3"/>
          </a:lnRef>
          <a:fillRef idx="2">
            <a:schemeClr val="accent3"/>
          </a:fillRef>
          <a:effectRef idx="1">
            <a:schemeClr val="accent3"/>
          </a:effectRef>
          <a:fontRef idx="minor">
            <a:schemeClr val="dk1"/>
          </a:fontRef>
        </p:style>
        <p:txBody>
          <a:bodyPr rtlCol="0" anchor="ctr"/>
          <a:lstStyle/>
          <a:p>
            <a:r>
              <a:rPr lang="en-IN" sz="2400" dirty="0">
                <a:latin typeface="Aptos Narrow" panose="020B0004020202020204" pitchFamily="34" charset="0"/>
              </a:rPr>
              <a:t>     Data Cleaning</a:t>
            </a:r>
          </a:p>
        </p:txBody>
      </p:sp>
    </p:spTree>
    <p:extLst>
      <p:ext uri="{BB962C8B-B14F-4D97-AF65-F5344CB8AC3E}">
        <p14:creationId xmlns:p14="http://schemas.microsoft.com/office/powerpoint/2010/main" val="32775602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A300D-0D66-6329-C8F7-58FBF2C369A3}"/>
              </a:ext>
            </a:extLst>
          </p:cNvPr>
          <p:cNvSpPr>
            <a:spLocks noGrp="1"/>
          </p:cNvSpPr>
          <p:nvPr>
            <p:ph type="title"/>
          </p:nvPr>
        </p:nvSpPr>
        <p:spPr>
          <a:xfrm>
            <a:off x="335280" y="-187121"/>
            <a:ext cx="10515600" cy="1325563"/>
          </a:xfrm>
        </p:spPr>
        <p:txBody>
          <a:bodyPr/>
          <a:lstStyle/>
          <a:p>
            <a:r>
              <a:rPr lang="en-IN" b="1" i="1" u="sng" dirty="0">
                <a:latin typeface="Aptos Narrow" panose="020B0004020202020204" pitchFamily="34" charset="0"/>
              </a:rPr>
              <a:t>Data Cleaning Steps :</a:t>
            </a:r>
          </a:p>
        </p:txBody>
      </p:sp>
      <p:sp>
        <p:nvSpPr>
          <p:cNvPr id="3" name="Text Placeholder 2">
            <a:extLst>
              <a:ext uri="{FF2B5EF4-FFF2-40B4-BE49-F238E27FC236}">
                <a16:creationId xmlns:a16="http://schemas.microsoft.com/office/drawing/2014/main" id="{0D9CB056-AD42-176F-9BDD-0B52DB63C4F6}"/>
              </a:ext>
            </a:extLst>
          </p:cNvPr>
          <p:cNvSpPr>
            <a:spLocks noGrp="1"/>
          </p:cNvSpPr>
          <p:nvPr>
            <p:ph type="body" idx="1"/>
          </p:nvPr>
        </p:nvSpPr>
        <p:spPr>
          <a:xfrm>
            <a:off x="335280" y="645978"/>
            <a:ext cx="12192000" cy="6120581"/>
          </a:xfrm>
        </p:spPr>
        <p:txBody>
          <a:bodyPr>
            <a:normAutofit/>
          </a:bodyPr>
          <a:lstStyle/>
          <a:p>
            <a:pPr marL="114300" indent="0">
              <a:buNone/>
            </a:pPr>
            <a:r>
              <a:rPr lang="en-GB" i="1" dirty="0">
                <a:latin typeface="Aptos Narrow" panose="020B0004020202020204" pitchFamily="34" charset="0"/>
              </a:rPr>
              <a:t>Several preprocessing steps were performed to clean the scraped dataset</a:t>
            </a:r>
            <a:endParaRPr lang="en-GB" i="1" dirty="0"/>
          </a:p>
          <a:p>
            <a:pPr marL="114300" indent="0">
              <a:buNone/>
            </a:pPr>
            <a:endParaRPr lang="en-GB" b="1" i="1" u="sng" dirty="0">
              <a:latin typeface="Aptos Narrow" panose="020B0004020202020204" pitchFamily="34" charset="0"/>
            </a:endParaRPr>
          </a:p>
          <a:p>
            <a:pPr marL="114300" indent="0">
              <a:buNone/>
            </a:pPr>
            <a:r>
              <a:rPr lang="en-GB" b="1" i="1" u="sng" dirty="0">
                <a:latin typeface="Aptos Narrow" panose="020B0004020202020204" pitchFamily="34" charset="0"/>
              </a:rPr>
              <a:t>Steps performed:</a:t>
            </a:r>
          </a:p>
          <a:p>
            <a:r>
              <a:rPr lang="en-GB" i="1" dirty="0">
                <a:latin typeface="Aptos Narrow" panose="020B0004020202020204" pitchFamily="34" charset="0"/>
              </a:rPr>
              <a:t>Removed special characters such as ₹ and commas from price columns</a:t>
            </a:r>
          </a:p>
          <a:p>
            <a:r>
              <a:rPr lang="en-GB" i="1" dirty="0">
                <a:latin typeface="Aptos Narrow" panose="020B0004020202020204" pitchFamily="34" charset="0"/>
              </a:rPr>
              <a:t>Converted price columns to numeric data types</a:t>
            </a:r>
          </a:p>
          <a:p>
            <a:r>
              <a:rPr lang="en-GB" i="1" dirty="0">
                <a:latin typeface="Aptos Narrow" panose="020B0004020202020204" pitchFamily="34" charset="0"/>
              </a:rPr>
              <a:t> Extracted numerical values from text fields using regex</a:t>
            </a:r>
          </a:p>
          <a:p>
            <a:r>
              <a:rPr lang="en-GB" i="1" dirty="0">
                <a:latin typeface="Aptos Narrow" panose="020B0004020202020204" pitchFamily="34" charset="0"/>
              </a:rPr>
              <a:t> Separated trip duration into Days and Nights</a:t>
            </a:r>
          </a:p>
          <a:p>
            <a:r>
              <a:rPr lang="en-GB" i="1" dirty="0">
                <a:latin typeface="Aptos Narrow" panose="020B0004020202020204" pitchFamily="34" charset="0"/>
              </a:rPr>
              <a:t> Removed unwanted columns such as links and page numbers</a:t>
            </a:r>
          </a:p>
          <a:p>
            <a:r>
              <a:rPr lang="en-GB" i="1" dirty="0">
                <a:latin typeface="Aptos Narrow" panose="020B0004020202020204" pitchFamily="34" charset="0"/>
              </a:rPr>
              <a:t>Handled missing values where necessary</a:t>
            </a:r>
          </a:p>
          <a:p>
            <a:r>
              <a:rPr lang="en-GB" i="1" dirty="0">
                <a:latin typeface="Aptos Narrow" panose="020B0004020202020204" pitchFamily="34" charset="0"/>
              </a:rPr>
              <a:t>These steps ensured that the dataset became structured and analysis-ready</a:t>
            </a:r>
          </a:p>
          <a:p>
            <a:pPr marL="114300" indent="0">
              <a:buNone/>
            </a:pPr>
            <a:endParaRPr lang="en-IN" dirty="0"/>
          </a:p>
        </p:txBody>
      </p:sp>
    </p:spTree>
    <p:extLst>
      <p:ext uri="{BB962C8B-B14F-4D97-AF65-F5344CB8AC3E}">
        <p14:creationId xmlns:p14="http://schemas.microsoft.com/office/powerpoint/2010/main" val="4163013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BD76A-E35E-A4A2-A3D6-58582FC31278}"/>
              </a:ext>
            </a:extLst>
          </p:cNvPr>
          <p:cNvSpPr>
            <a:spLocks noGrp="1"/>
          </p:cNvSpPr>
          <p:nvPr>
            <p:ph type="title"/>
          </p:nvPr>
        </p:nvSpPr>
        <p:spPr>
          <a:xfrm>
            <a:off x="345440" y="-216965"/>
            <a:ext cx="10515600" cy="1325563"/>
          </a:xfrm>
        </p:spPr>
        <p:txBody>
          <a:bodyPr>
            <a:normAutofit/>
          </a:bodyPr>
          <a:lstStyle/>
          <a:p>
            <a:r>
              <a:rPr lang="en-IN" b="1" i="1" u="sng" dirty="0">
                <a:latin typeface="Aptos Narrow" panose="020B0004020202020204" pitchFamily="34" charset="0"/>
              </a:rPr>
              <a:t>Data Manipulation Steps :</a:t>
            </a:r>
          </a:p>
        </p:txBody>
      </p:sp>
      <p:sp>
        <p:nvSpPr>
          <p:cNvPr id="3" name="Text Placeholder 2">
            <a:extLst>
              <a:ext uri="{FF2B5EF4-FFF2-40B4-BE49-F238E27FC236}">
                <a16:creationId xmlns:a16="http://schemas.microsoft.com/office/drawing/2014/main" id="{2A926E63-C066-36EB-27B0-2A5B45E2EB8E}"/>
              </a:ext>
            </a:extLst>
          </p:cNvPr>
          <p:cNvSpPr>
            <a:spLocks noGrp="1"/>
          </p:cNvSpPr>
          <p:nvPr>
            <p:ph type="body" idx="1"/>
          </p:nvPr>
        </p:nvSpPr>
        <p:spPr>
          <a:xfrm>
            <a:off x="345440" y="668595"/>
            <a:ext cx="12192000" cy="6189405"/>
          </a:xfrm>
        </p:spPr>
        <p:txBody>
          <a:bodyPr>
            <a:normAutofit/>
          </a:bodyPr>
          <a:lstStyle/>
          <a:p>
            <a:pPr marL="114300" indent="0">
              <a:buNone/>
            </a:pPr>
            <a:r>
              <a:rPr lang="en-GB" i="1" dirty="0">
                <a:latin typeface="Aptos Narrow" panose="020B0004020202020204" pitchFamily="34" charset="0"/>
              </a:rPr>
              <a:t>New features were created to enhance analysis</a:t>
            </a:r>
          </a:p>
          <a:p>
            <a:pPr marL="114300" indent="0">
              <a:buNone/>
            </a:pPr>
            <a:endParaRPr lang="en-GB" b="1" i="1" u="sng" dirty="0">
              <a:latin typeface="Aptos Narrow" panose="020B0004020202020204" pitchFamily="34" charset="0"/>
            </a:endParaRPr>
          </a:p>
          <a:p>
            <a:pPr marL="114300" indent="0">
              <a:buNone/>
            </a:pPr>
            <a:r>
              <a:rPr lang="en-GB" b="1" i="1" u="sng" dirty="0">
                <a:latin typeface="Aptos Narrow" panose="020B0004020202020204" pitchFamily="34" charset="0"/>
              </a:rPr>
              <a:t>Savings :</a:t>
            </a:r>
          </a:p>
          <a:p>
            <a:r>
              <a:rPr lang="en-GB" i="1" dirty="0">
                <a:latin typeface="Aptos Narrow" panose="020B0004020202020204" pitchFamily="34" charset="0"/>
              </a:rPr>
              <a:t>Savings = Original Price − Discount Price</a:t>
            </a:r>
          </a:p>
          <a:p>
            <a:r>
              <a:rPr lang="en-GB" i="1" dirty="0">
                <a:latin typeface="Aptos Narrow" panose="020B0004020202020204" pitchFamily="34" charset="0"/>
              </a:rPr>
              <a:t>This helps identify how much money customers save on a travel package.</a:t>
            </a:r>
          </a:p>
          <a:p>
            <a:pPr marL="114300" indent="0">
              <a:buNone/>
            </a:pPr>
            <a:endParaRPr lang="en-GB" b="1" i="1" u="sng" dirty="0">
              <a:latin typeface="Aptos Narrow" panose="020B0004020202020204" pitchFamily="34" charset="0"/>
            </a:endParaRPr>
          </a:p>
          <a:p>
            <a:pPr marL="114300" indent="0">
              <a:buNone/>
            </a:pPr>
            <a:r>
              <a:rPr lang="en-GB" b="1" i="1" u="sng" dirty="0">
                <a:latin typeface="Aptos Narrow" panose="020B0004020202020204" pitchFamily="34" charset="0"/>
              </a:rPr>
              <a:t>Savings Percentage :</a:t>
            </a:r>
          </a:p>
          <a:p>
            <a:r>
              <a:rPr lang="en-GB" i="1" dirty="0">
                <a:latin typeface="Aptos Narrow" panose="020B0004020202020204" pitchFamily="34" charset="0"/>
              </a:rPr>
              <a:t>Savings Percentage = (Savings / Original Price) * 100</a:t>
            </a:r>
          </a:p>
          <a:p>
            <a:r>
              <a:rPr lang="en-GB" i="1" dirty="0">
                <a:latin typeface="Aptos Narrow" panose="020B0004020202020204" pitchFamily="34" charset="0"/>
              </a:rPr>
              <a:t>This shows the effectiveness of discounts offered by travel packages.</a:t>
            </a:r>
          </a:p>
          <a:p>
            <a:r>
              <a:rPr lang="en-GB" i="1" dirty="0">
                <a:latin typeface="Aptos Narrow" panose="020B0004020202020204" pitchFamily="34" charset="0"/>
              </a:rPr>
              <a:t>Feature engineering helped create more meaningful variables for analysis</a:t>
            </a:r>
          </a:p>
        </p:txBody>
      </p:sp>
    </p:spTree>
    <p:extLst>
      <p:ext uri="{BB962C8B-B14F-4D97-AF65-F5344CB8AC3E}">
        <p14:creationId xmlns:p14="http://schemas.microsoft.com/office/powerpoint/2010/main" val="28575490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F5A03-E368-B095-69DE-486F87413EDD}"/>
              </a:ext>
            </a:extLst>
          </p:cNvPr>
          <p:cNvSpPr>
            <a:spLocks noGrp="1"/>
          </p:cNvSpPr>
          <p:nvPr>
            <p:ph type="title"/>
          </p:nvPr>
        </p:nvSpPr>
        <p:spPr>
          <a:xfrm>
            <a:off x="248756" y="-254635"/>
            <a:ext cx="10515600" cy="1325563"/>
          </a:xfrm>
        </p:spPr>
        <p:txBody>
          <a:bodyPr/>
          <a:lstStyle/>
          <a:p>
            <a:r>
              <a:rPr lang="en-GB" b="1" i="1" u="sng" dirty="0">
                <a:latin typeface="Aptos Narrow" panose="020B0004020202020204" pitchFamily="34" charset="0"/>
              </a:rPr>
              <a:t>Outliers :</a:t>
            </a:r>
            <a:endParaRPr lang="en-IN" b="1" i="1" u="sng" dirty="0">
              <a:latin typeface="Aptos Narrow" panose="020B0004020202020204" pitchFamily="34" charset="0"/>
            </a:endParaRPr>
          </a:p>
        </p:txBody>
      </p:sp>
      <p:sp>
        <p:nvSpPr>
          <p:cNvPr id="3" name="Text Placeholder 2">
            <a:extLst>
              <a:ext uri="{FF2B5EF4-FFF2-40B4-BE49-F238E27FC236}">
                <a16:creationId xmlns:a16="http://schemas.microsoft.com/office/drawing/2014/main" id="{74E05700-EE03-778F-1736-CF0340FF5063}"/>
              </a:ext>
            </a:extLst>
          </p:cNvPr>
          <p:cNvSpPr>
            <a:spLocks noGrp="1"/>
          </p:cNvSpPr>
          <p:nvPr>
            <p:ph type="body" idx="1"/>
          </p:nvPr>
        </p:nvSpPr>
        <p:spPr>
          <a:xfrm>
            <a:off x="248756" y="599440"/>
            <a:ext cx="12192000" cy="5781695"/>
          </a:xfrm>
        </p:spPr>
        <p:txBody>
          <a:bodyPr>
            <a:normAutofit/>
          </a:bodyPr>
          <a:lstStyle/>
          <a:p>
            <a:r>
              <a:rPr lang="en-GB" i="1" dirty="0">
                <a:solidFill>
                  <a:schemeClr val="tx1"/>
                </a:solidFill>
                <a:effectLst/>
                <a:latin typeface="Aptos Narrow" panose="020B0004020202020204" pitchFamily="34" charset="0"/>
              </a:rPr>
              <a:t>data points that differ significantly from the rest of the dataset, lying at an abnormal distance from other values</a:t>
            </a:r>
          </a:p>
          <a:p>
            <a:r>
              <a:rPr lang="en-GB" i="1" dirty="0">
                <a:solidFill>
                  <a:schemeClr val="tx1"/>
                </a:solidFill>
                <a:latin typeface="Aptos Narrow" panose="020B0004020202020204" pitchFamily="34" charset="0"/>
              </a:rPr>
              <a:t>Here we are using  box plot for visualizing outliers</a:t>
            </a:r>
            <a:endParaRPr lang="en-GB" i="1" dirty="0">
              <a:solidFill>
                <a:schemeClr val="tx1"/>
              </a:solidFill>
              <a:effectLst/>
              <a:latin typeface="Aptos Narrow" panose="020B0004020202020204" pitchFamily="34" charset="0"/>
            </a:endParaRPr>
          </a:p>
          <a:p>
            <a:pPr marL="114300" indent="0">
              <a:buNone/>
            </a:pPr>
            <a:r>
              <a:rPr lang="en-GB" b="1" i="1" u="sng" dirty="0">
                <a:solidFill>
                  <a:schemeClr val="tx1"/>
                </a:solidFill>
                <a:latin typeface="Aptos Narrow" panose="020B0004020202020204" pitchFamily="34" charset="0"/>
              </a:rPr>
              <a:t>How to find outliers :</a:t>
            </a:r>
            <a:endParaRPr lang="en-GB" b="1" i="1" u="sng" dirty="0">
              <a:solidFill>
                <a:schemeClr val="tx1"/>
              </a:solidFill>
              <a:effectLst/>
              <a:latin typeface="Aptos Narrow" panose="020B0004020202020204" pitchFamily="34" charset="0"/>
            </a:endParaRPr>
          </a:p>
          <a:p>
            <a:r>
              <a:rPr lang="en-IN" sz="2400" i="1" dirty="0">
                <a:solidFill>
                  <a:schemeClr val="tx1"/>
                </a:solidFill>
                <a:latin typeface="Aptos Narrow" panose="020B0004020202020204" pitchFamily="34" charset="0"/>
              </a:rPr>
              <a:t>by using the IQR </a:t>
            </a:r>
          </a:p>
          <a:p>
            <a:r>
              <a:rPr lang="en-IN" sz="2400" i="1" dirty="0">
                <a:solidFill>
                  <a:schemeClr val="tx1"/>
                </a:solidFill>
                <a:latin typeface="Aptos Narrow" panose="020B0004020202020204" pitchFamily="34" charset="0"/>
              </a:rPr>
              <a:t>IQR full form is inter quartile range</a:t>
            </a:r>
          </a:p>
          <a:p>
            <a:r>
              <a:rPr lang="en-IN" sz="2400" i="1" dirty="0">
                <a:solidFill>
                  <a:schemeClr val="tx1"/>
                </a:solidFill>
                <a:latin typeface="Aptos Narrow" panose="020B0004020202020204" pitchFamily="34" charset="0"/>
              </a:rPr>
              <a:t>IQR = Q3 – Q1 (Formula to find </a:t>
            </a:r>
            <a:r>
              <a:rPr lang="en-IN" sz="2400" i="1" dirty="0" err="1">
                <a:solidFill>
                  <a:schemeClr val="tx1"/>
                </a:solidFill>
                <a:latin typeface="Aptos Narrow" panose="020B0004020202020204" pitchFamily="34" charset="0"/>
              </a:rPr>
              <a:t>iqr</a:t>
            </a:r>
            <a:r>
              <a:rPr lang="en-IN" sz="2400" i="1" dirty="0">
                <a:solidFill>
                  <a:schemeClr val="tx1"/>
                </a:solidFill>
                <a:latin typeface="Aptos Narrow" panose="020B0004020202020204" pitchFamily="34" charset="0"/>
              </a:rPr>
              <a:t>)</a:t>
            </a:r>
          </a:p>
          <a:p>
            <a:pPr marL="114300" indent="0">
              <a:buNone/>
            </a:pPr>
            <a:r>
              <a:rPr lang="en-IN" b="1" i="1" u="sng" dirty="0">
                <a:solidFill>
                  <a:schemeClr val="tx1"/>
                </a:solidFill>
                <a:latin typeface="Aptos Narrow" panose="020B0004020202020204" pitchFamily="34" charset="0"/>
              </a:rPr>
              <a:t>Where:</a:t>
            </a:r>
          </a:p>
          <a:p>
            <a:r>
              <a:rPr lang="en-IN" sz="2400" i="1" dirty="0">
                <a:solidFill>
                  <a:schemeClr val="tx1"/>
                </a:solidFill>
                <a:latin typeface="Aptos Narrow" panose="020B0004020202020204" pitchFamily="34" charset="0"/>
              </a:rPr>
              <a:t>Q1(1</a:t>
            </a:r>
            <a:r>
              <a:rPr lang="en-IN" sz="2400" i="1" baseline="30000" dirty="0">
                <a:solidFill>
                  <a:schemeClr val="tx1"/>
                </a:solidFill>
                <a:latin typeface="Aptos Narrow" panose="020B0004020202020204" pitchFamily="34" charset="0"/>
              </a:rPr>
              <a:t>st</a:t>
            </a:r>
            <a:r>
              <a:rPr lang="en-IN" sz="2400" i="1" dirty="0">
                <a:solidFill>
                  <a:schemeClr val="tx1"/>
                </a:solidFill>
                <a:latin typeface="Aptos Narrow" panose="020B0004020202020204" pitchFamily="34" charset="0"/>
              </a:rPr>
              <a:t>  Quartile) = 25</a:t>
            </a:r>
            <a:r>
              <a:rPr lang="en-IN" sz="2400" i="1" baseline="30000" dirty="0">
                <a:solidFill>
                  <a:schemeClr val="tx1"/>
                </a:solidFill>
                <a:latin typeface="Aptos Narrow" panose="020B0004020202020204" pitchFamily="34" charset="0"/>
              </a:rPr>
              <a:t>th</a:t>
            </a:r>
            <a:r>
              <a:rPr lang="en-IN" sz="2400" i="1" dirty="0">
                <a:solidFill>
                  <a:schemeClr val="tx1"/>
                </a:solidFill>
                <a:latin typeface="Aptos Narrow" panose="020B0004020202020204" pitchFamily="34" charset="0"/>
              </a:rPr>
              <a:t> percentile of the data</a:t>
            </a:r>
          </a:p>
          <a:p>
            <a:r>
              <a:rPr lang="en-IN" sz="2400" i="1" dirty="0">
                <a:solidFill>
                  <a:schemeClr val="tx1"/>
                </a:solidFill>
                <a:latin typeface="Aptos Narrow" panose="020B0004020202020204" pitchFamily="34" charset="0"/>
              </a:rPr>
              <a:t>Q2(3</a:t>
            </a:r>
            <a:r>
              <a:rPr lang="en-IN" sz="2400" i="1" baseline="30000" dirty="0">
                <a:solidFill>
                  <a:schemeClr val="tx1"/>
                </a:solidFill>
                <a:latin typeface="Aptos Narrow" panose="020B0004020202020204" pitchFamily="34" charset="0"/>
              </a:rPr>
              <a:t>rd</a:t>
            </a:r>
            <a:r>
              <a:rPr lang="en-IN" sz="2400" i="1" dirty="0">
                <a:solidFill>
                  <a:schemeClr val="tx1"/>
                </a:solidFill>
                <a:latin typeface="Aptos Narrow" panose="020B0004020202020204" pitchFamily="34" charset="0"/>
              </a:rPr>
              <a:t> Quartile) = 75</a:t>
            </a:r>
            <a:r>
              <a:rPr lang="en-IN" sz="2400" i="1" baseline="30000" dirty="0">
                <a:solidFill>
                  <a:schemeClr val="tx1"/>
                </a:solidFill>
                <a:latin typeface="Aptos Narrow" panose="020B0004020202020204" pitchFamily="34" charset="0"/>
              </a:rPr>
              <a:t>th</a:t>
            </a:r>
            <a:r>
              <a:rPr lang="en-IN" sz="2400" i="1" dirty="0">
                <a:solidFill>
                  <a:schemeClr val="tx1"/>
                </a:solidFill>
                <a:latin typeface="Aptos Narrow" panose="020B0004020202020204" pitchFamily="34" charset="0"/>
              </a:rPr>
              <a:t> percentile of the data</a:t>
            </a:r>
          </a:p>
          <a:p>
            <a:r>
              <a:rPr lang="en-IN" sz="2400" i="1" dirty="0">
                <a:solidFill>
                  <a:schemeClr val="tx1"/>
                </a:solidFill>
                <a:latin typeface="Aptos Narrow" panose="020B0004020202020204" pitchFamily="34" charset="0"/>
              </a:rPr>
              <a:t>IQR = Spread of the middle 50% of the data set</a:t>
            </a:r>
          </a:p>
          <a:p>
            <a:pPr marL="114300" indent="0">
              <a:buNone/>
            </a:pPr>
            <a:endParaRPr lang="en-IN" i="1" dirty="0">
              <a:solidFill>
                <a:schemeClr val="tx1"/>
              </a:solidFill>
              <a:latin typeface="Aptos Narrow" panose="020B0004020202020204" pitchFamily="34" charset="0"/>
            </a:endParaRPr>
          </a:p>
          <a:p>
            <a:pPr marL="114300" indent="0">
              <a:buNone/>
            </a:pPr>
            <a:endParaRPr lang="en-IN" i="1" dirty="0">
              <a:solidFill>
                <a:schemeClr val="tx1"/>
              </a:solidFill>
              <a:latin typeface="Aptos Narrow" panose="020B0004020202020204" pitchFamily="34" charset="0"/>
            </a:endParaRPr>
          </a:p>
          <a:p>
            <a:pPr marL="114300" indent="0">
              <a:buNone/>
            </a:pPr>
            <a:endParaRPr lang="en-IN" i="1" dirty="0">
              <a:solidFill>
                <a:schemeClr val="tx1"/>
              </a:solidFill>
              <a:latin typeface="Aptos Narrow" panose="020B0004020202020204" pitchFamily="34" charset="0"/>
            </a:endParaRPr>
          </a:p>
          <a:p>
            <a:endParaRPr lang="en-IN" i="1" dirty="0">
              <a:solidFill>
                <a:schemeClr val="tx1"/>
              </a:solidFill>
              <a:latin typeface="Aptos Narrow" panose="020B0004020202020204" pitchFamily="34" charset="0"/>
            </a:endParaRPr>
          </a:p>
          <a:p>
            <a:endParaRPr lang="en-IN" i="1" dirty="0">
              <a:solidFill>
                <a:schemeClr val="tx1"/>
              </a:solidFill>
              <a:latin typeface="Aptos Narrow" panose="020B0004020202020204" pitchFamily="34" charset="0"/>
            </a:endParaRPr>
          </a:p>
        </p:txBody>
      </p:sp>
    </p:spTree>
    <p:extLst>
      <p:ext uri="{BB962C8B-B14F-4D97-AF65-F5344CB8AC3E}">
        <p14:creationId xmlns:p14="http://schemas.microsoft.com/office/powerpoint/2010/main" val="3913956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6B9BBDB-566F-EBA9-6A88-B6C1A090140E}"/>
              </a:ext>
            </a:extLst>
          </p:cNvPr>
          <p:cNvPicPr>
            <a:picLocks noChangeAspect="1"/>
          </p:cNvPicPr>
          <p:nvPr/>
        </p:nvPicPr>
        <p:blipFill>
          <a:blip r:embed="rId2"/>
          <a:stretch>
            <a:fillRect/>
          </a:stretch>
        </p:blipFill>
        <p:spPr>
          <a:xfrm>
            <a:off x="0" y="417991"/>
            <a:ext cx="12192000" cy="5805714"/>
          </a:xfrm>
          <a:prstGeom prst="rect">
            <a:avLst/>
          </a:prstGeom>
        </p:spPr>
      </p:pic>
    </p:spTree>
    <p:extLst>
      <p:ext uri="{BB962C8B-B14F-4D97-AF65-F5344CB8AC3E}">
        <p14:creationId xmlns:p14="http://schemas.microsoft.com/office/powerpoint/2010/main" val="12296773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E07A2CC-2C25-CE86-2052-05DFDDEED7C1}"/>
              </a:ext>
            </a:extLst>
          </p:cNvPr>
          <p:cNvPicPr>
            <a:picLocks noChangeAspect="1"/>
          </p:cNvPicPr>
          <p:nvPr/>
        </p:nvPicPr>
        <p:blipFill>
          <a:blip r:embed="rId2"/>
          <a:stretch>
            <a:fillRect/>
          </a:stretch>
        </p:blipFill>
        <p:spPr>
          <a:xfrm>
            <a:off x="0" y="968274"/>
            <a:ext cx="12192000" cy="4263337"/>
          </a:xfrm>
          <a:prstGeom prst="rect">
            <a:avLst/>
          </a:prstGeom>
        </p:spPr>
      </p:pic>
    </p:spTree>
    <p:extLst>
      <p:ext uri="{BB962C8B-B14F-4D97-AF65-F5344CB8AC3E}">
        <p14:creationId xmlns:p14="http://schemas.microsoft.com/office/powerpoint/2010/main" val="38315888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5EB4E-68BB-87A3-8251-9B3E2BA55007}"/>
              </a:ext>
            </a:extLst>
          </p:cNvPr>
          <p:cNvSpPr>
            <a:spLocks noGrp="1"/>
          </p:cNvSpPr>
          <p:nvPr>
            <p:ph type="title"/>
          </p:nvPr>
        </p:nvSpPr>
        <p:spPr>
          <a:xfrm>
            <a:off x="0" y="-155984"/>
            <a:ext cx="10515600" cy="1325563"/>
          </a:xfrm>
        </p:spPr>
        <p:txBody>
          <a:bodyPr/>
          <a:lstStyle/>
          <a:p>
            <a:r>
              <a:rPr lang="en-IN" b="1" i="1" u="sng" dirty="0">
                <a:latin typeface="Aptos Narrow" panose="020B0004020202020204" pitchFamily="34" charset="0"/>
              </a:rPr>
              <a:t>Univariate Analysis Steps :</a:t>
            </a:r>
          </a:p>
        </p:txBody>
      </p:sp>
      <p:sp>
        <p:nvSpPr>
          <p:cNvPr id="3" name="Text Placeholder 2">
            <a:extLst>
              <a:ext uri="{FF2B5EF4-FFF2-40B4-BE49-F238E27FC236}">
                <a16:creationId xmlns:a16="http://schemas.microsoft.com/office/drawing/2014/main" id="{28DE9AB7-0523-B6D3-97A4-4215CE0BEB42}"/>
              </a:ext>
            </a:extLst>
          </p:cNvPr>
          <p:cNvSpPr>
            <a:spLocks noGrp="1"/>
          </p:cNvSpPr>
          <p:nvPr>
            <p:ph type="body" idx="1"/>
          </p:nvPr>
        </p:nvSpPr>
        <p:spPr>
          <a:xfrm>
            <a:off x="0" y="688258"/>
            <a:ext cx="12192000" cy="6169742"/>
          </a:xfrm>
        </p:spPr>
        <p:txBody>
          <a:bodyPr>
            <a:normAutofit lnSpcReduction="10000"/>
          </a:bodyPr>
          <a:lstStyle/>
          <a:p>
            <a:pPr marL="114300" indent="0">
              <a:buNone/>
            </a:pPr>
            <a:r>
              <a:rPr lang="en-GB" sz="2400" i="1" dirty="0">
                <a:latin typeface="Aptos Narrow" panose="020B0004020202020204" pitchFamily="34" charset="0"/>
              </a:rPr>
              <a:t>Univariate analysis focuses on examining one variable at a time to understand its distribution and characteristics</a:t>
            </a:r>
          </a:p>
          <a:p>
            <a:pPr marL="114300" indent="0">
              <a:buNone/>
            </a:pPr>
            <a:r>
              <a:rPr lang="en-IN" b="1" i="1" u="sng" dirty="0">
                <a:latin typeface="Aptos Narrow" panose="020B0004020202020204" pitchFamily="34" charset="0"/>
              </a:rPr>
              <a:t>visualizations used :</a:t>
            </a:r>
          </a:p>
          <a:p>
            <a:r>
              <a:rPr lang="en-IN" sz="2400" i="1" dirty="0">
                <a:latin typeface="Aptos Narrow" panose="020B0004020202020204" pitchFamily="34" charset="0"/>
              </a:rPr>
              <a:t>Histogram</a:t>
            </a:r>
          </a:p>
          <a:p>
            <a:r>
              <a:rPr lang="en-IN" sz="2400" i="1" dirty="0">
                <a:latin typeface="Aptos Narrow" panose="020B0004020202020204" pitchFamily="34" charset="0"/>
              </a:rPr>
              <a:t>Count plot</a:t>
            </a:r>
          </a:p>
          <a:p>
            <a:r>
              <a:rPr lang="en-IN" sz="2400" i="1" dirty="0">
                <a:latin typeface="Aptos Narrow" panose="020B0004020202020204" pitchFamily="34" charset="0"/>
              </a:rPr>
              <a:t>Donut</a:t>
            </a:r>
          </a:p>
          <a:p>
            <a:pPr marL="114300" indent="0">
              <a:buNone/>
            </a:pPr>
            <a:r>
              <a:rPr lang="en-GB" b="1" i="1" u="sng" dirty="0">
                <a:latin typeface="Aptos Narrow" panose="020B0004020202020204" pitchFamily="34" charset="0"/>
              </a:rPr>
              <a:t>The goal of this analysis :</a:t>
            </a:r>
          </a:p>
          <a:p>
            <a:pPr>
              <a:buFont typeface="Arial" panose="020B0604020202020204" pitchFamily="34" charset="0"/>
              <a:buChar char="•"/>
            </a:pPr>
            <a:r>
              <a:rPr lang="en-GB" sz="2400" i="1" dirty="0">
                <a:latin typeface="Aptos Narrow" panose="020B0004020202020204" pitchFamily="34" charset="0"/>
              </a:rPr>
              <a:t>Understand the distribution of travel package prices</a:t>
            </a:r>
          </a:p>
          <a:p>
            <a:pPr>
              <a:buFont typeface="Arial" panose="020B0604020202020204" pitchFamily="34" charset="0"/>
              <a:buChar char="•"/>
            </a:pPr>
            <a:r>
              <a:rPr lang="en-GB" sz="2400" i="1" dirty="0" err="1">
                <a:latin typeface="Aptos Narrow" panose="020B0004020202020204" pitchFamily="34" charset="0"/>
              </a:rPr>
              <a:t>Analyze</a:t>
            </a:r>
            <a:r>
              <a:rPr lang="en-GB" sz="2400" i="1" dirty="0">
                <a:latin typeface="Aptos Narrow" panose="020B0004020202020204" pitchFamily="34" charset="0"/>
              </a:rPr>
              <a:t> discount patterns</a:t>
            </a:r>
          </a:p>
          <a:p>
            <a:pPr>
              <a:buFont typeface="Arial" panose="020B0604020202020204" pitchFamily="34" charset="0"/>
              <a:buChar char="•"/>
            </a:pPr>
            <a:r>
              <a:rPr lang="en-GB" sz="2400" i="1" dirty="0">
                <a:latin typeface="Aptos Narrow" panose="020B0004020202020204" pitchFamily="34" charset="0"/>
              </a:rPr>
              <a:t>Study rating distribution</a:t>
            </a:r>
          </a:p>
          <a:p>
            <a:pPr>
              <a:buFont typeface="Arial" panose="020B0604020202020204" pitchFamily="34" charset="0"/>
              <a:buChar char="•"/>
            </a:pPr>
            <a:r>
              <a:rPr lang="en-GB" sz="2400" i="1" dirty="0">
                <a:latin typeface="Aptos Narrow" panose="020B0004020202020204" pitchFamily="34" charset="0"/>
              </a:rPr>
              <a:t>Observe trip duration patterns</a:t>
            </a:r>
            <a:endParaRPr lang="en-IN" i="1" dirty="0">
              <a:latin typeface="Aptos Narrow" panose="020B0004020202020204" pitchFamily="34" charset="0"/>
            </a:endParaRPr>
          </a:p>
          <a:p>
            <a:pPr>
              <a:buFont typeface="Wingdings" panose="05000000000000000000" pitchFamily="2" charset="2"/>
              <a:buChar char="Ø"/>
            </a:pPr>
            <a:endParaRPr lang="en-GB" sz="2400" i="1" dirty="0">
              <a:latin typeface="Aptos Narrow" panose="020B0004020202020204" pitchFamily="34" charset="0"/>
            </a:endParaRPr>
          </a:p>
          <a:p>
            <a:pPr>
              <a:buFont typeface="Wingdings" panose="05000000000000000000" pitchFamily="2" charset="2"/>
              <a:buChar char="Ø"/>
            </a:pPr>
            <a:r>
              <a:rPr lang="en-GB" sz="2400" i="1" dirty="0">
                <a:latin typeface="Aptos Narrow" panose="020B0004020202020204" pitchFamily="34" charset="0"/>
              </a:rPr>
              <a:t>These plots help identify distribution patterns, frequency, and potential outliers </a:t>
            </a:r>
          </a:p>
          <a:p>
            <a:pPr marL="114300" indent="0">
              <a:buNone/>
            </a:pPr>
            <a:r>
              <a:rPr lang="en-GB" sz="2400" i="1" dirty="0">
                <a:latin typeface="Aptos Narrow" panose="020B0004020202020204" pitchFamily="34" charset="0"/>
              </a:rPr>
              <a:t> in the dataset</a:t>
            </a:r>
            <a:endParaRPr lang="en-IN" sz="2400" i="1" dirty="0">
              <a:latin typeface="Aptos Narrow" panose="020B0004020202020204" pitchFamily="34" charset="0"/>
            </a:endParaRPr>
          </a:p>
        </p:txBody>
      </p:sp>
    </p:spTree>
    <p:extLst>
      <p:ext uri="{BB962C8B-B14F-4D97-AF65-F5344CB8AC3E}">
        <p14:creationId xmlns:p14="http://schemas.microsoft.com/office/powerpoint/2010/main" val="179445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F525CB2-04F7-47C2-70C6-73A42B714100}"/>
              </a:ext>
            </a:extLst>
          </p:cNvPr>
          <p:cNvPicPr>
            <a:picLocks noChangeAspect="1"/>
          </p:cNvPicPr>
          <p:nvPr/>
        </p:nvPicPr>
        <p:blipFill>
          <a:blip r:embed="rId2"/>
          <a:stretch>
            <a:fillRect/>
          </a:stretch>
        </p:blipFill>
        <p:spPr>
          <a:xfrm>
            <a:off x="29942" y="874740"/>
            <a:ext cx="12162058" cy="5374007"/>
          </a:xfrm>
          <a:prstGeom prst="rect">
            <a:avLst/>
          </a:prstGeom>
        </p:spPr>
      </p:pic>
      <p:sp>
        <p:nvSpPr>
          <p:cNvPr id="2" name="Title 1">
            <a:extLst>
              <a:ext uri="{FF2B5EF4-FFF2-40B4-BE49-F238E27FC236}">
                <a16:creationId xmlns:a16="http://schemas.microsoft.com/office/drawing/2014/main" id="{E0D354FE-8618-C253-3EF2-1C4AC6454583}"/>
              </a:ext>
            </a:extLst>
          </p:cNvPr>
          <p:cNvSpPr>
            <a:spLocks noGrp="1"/>
          </p:cNvSpPr>
          <p:nvPr>
            <p:ph type="title"/>
          </p:nvPr>
        </p:nvSpPr>
        <p:spPr>
          <a:xfrm>
            <a:off x="0" y="-382126"/>
            <a:ext cx="10515600" cy="1325563"/>
          </a:xfrm>
        </p:spPr>
        <p:txBody>
          <a:bodyPr>
            <a:normAutofit/>
          </a:bodyPr>
          <a:lstStyle/>
          <a:p>
            <a:r>
              <a:rPr lang="en-IN" sz="2400" b="1" u="sng" dirty="0">
                <a:latin typeface="Aptos Narrow" panose="020B0004020202020204" pitchFamily="34" charset="0"/>
              </a:rPr>
              <a:t>Visualizations In Univariate Analysis :</a:t>
            </a:r>
          </a:p>
        </p:txBody>
      </p:sp>
      <p:sp>
        <p:nvSpPr>
          <p:cNvPr id="3" name="Text Placeholder 2">
            <a:extLst>
              <a:ext uri="{FF2B5EF4-FFF2-40B4-BE49-F238E27FC236}">
                <a16:creationId xmlns:a16="http://schemas.microsoft.com/office/drawing/2014/main" id="{E5853C62-113B-E46C-0270-F541FF525AF1}"/>
              </a:ext>
            </a:extLst>
          </p:cNvPr>
          <p:cNvSpPr>
            <a:spLocks noGrp="1"/>
          </p:cNvSpPr>
          <p:nvPr>
            <p:ph type="body" idx="1"/>
          </p:nvPr>
        </p:nvSpPr>
        <p:spPr>
          <a:xfrm>
            <a:off x="-334297" y="218530"/>
            <a:ext cx="12192001" cy="5804208"/>
          </a:xfrm>
        </p:spPr>
        <p:txBody>
          <a:bodyPr/>
          <a:lstStyle/>
          <a:p>
            <a:pPr marL="114300" indent="0">
              <a:buNone/>
            </a:pPr>
            <a:r>
              <a:rPr lang="en-IN" dirty="0">
                <a:latin typeface="Aptos Narrow" panose="020B0004020202020204" pitchFamily="34" charset="0"/>
              </a:rPr>
              <a:t>                                                                                 </a:t>
            </a:r>
            <a:r>
              <a:rPr lang="en-IN" sz="2400" b="1" u="sng" dirty="0">
                <a:latin typeface="Aptos Narrow" panose="020B0004020202020204" pitchFamily="34" charset="0"/>
              </a:rPr>
              <a:t>Categorical</a:t>
            </a:r>
          </a:p>
        </p:txBody>
      </p:sp>
    </p:spTree>
    <p:extLst>
      <p:ext uri="{BB962C8B-B14F-4D97-AF65-F5344CB8AC3E}">
        <p14:creationId xmlns:p14="http://schemas.microsoft.com/office/powerpoint/2010/main" val="682823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E8CD6B4-26A8-D999-F50F-E17F3CD071A7}"/>
              </a:ext>
            </a:extLst>
          </p:cNvPr>
          <p:cNvPicPr>
            <a:picLocks noChangeAspect="1"/>
          </p:cNvPicPr>
          <p:nvPr/>
        </p:nvPicPr>
        <p:blipFill>
          <a:blip r:embed="rId2"/>
          <a:stretch>
            <a:fillRect/>
          </a:stretch>
        </p:blipFill>
        <p:spPr>
          <a:xfrm>
            <a:off x="0" y="570272"/>
            <a:ext cx="12192000" cy="5624052"/>
          </a:xfrm>
          <a:prstGeom prst="rect">
            <a:avLst/>
          </a:prstGeom>
        </p:spPr>
      </p:pic>
      <p:sp>
        <p:nvSpPr>
          <p:cNvPr id="2" name="TextBox 1">
            <a:extLst>
              <a:ext uri="{FF2B5EF4-FFF2-40B4-BE49-F238E27FC236}">
                <a16:creationId xmlns:a16="http://schemas.microsoft.com/office/drawing/2014/main" id="{0915ABA2-869F-244B-5CF3-C4435336548B}"/>
              </a:ext>
            </a:extLst>
          </p:cNvPr>
          <p:cNvSpPr txBox="1"/>
          <p:nvPr/>
        </p:nvSpPr>
        <p:spPr>
          <a:xfrm>
            <a:off x="5417573" y="-98079"/>
            <a:ext cx="2163097" cy="584775"/>
          </a:xfrm>
          <a:prstGeom prst="rect">
            <a:avLst/>
          </a:prstGeom>
          <a:noFill/>
        </p:spPr>
        <p:txBody>
          <a:bodyPr wrap="square" rtlCol="0">
            <a:spAutoFit/>
          </a:bodyPr>
          <a:lstStyle/>
          <a:p>
            <a:r>
              <a:rPr lang="en-IN" sz="3200" b="1" u="sng" dirty="0">
                <a:latin typeface="Aptos Narrow" panose="020B0004020202020204" pitchFamily="34" charset="0"/>
              </a:rPr>
              <a:t>Numerical</a:t>
            </a:r>
            <a:endParaRPr lang="en-IN" sz="3200" dirty="0"/>
          </a:p>
        </p:txBody>
      </p:sp>
    </p:spTree>
    <p:extLst>
      <p:ext uri="{BB962C8B-B14F-4D97-AF65-F5344CB8AC3E}">
        <p14:creationId xmlns:p14="http://schemas.microsoft.com/office/powerpoint/2010/main" val="27148014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A035DBC-7D99-F03F-9259-F4AC7C0C9FAF}"/>
              </a:ext>
            </a:extLst>
          </p:cNvPr>
          <p:cNvPicPr>
            <a:picLocks noChangeAspect="1"/>
          </p:cNvPicPr>
          <p:nvPr/>
        </p:nvPicPr>
        <p:blipFill>
          <a:blip r:embed="rId2"/>
          <a:stretch>
            <a:fillRect/>
          </a:stretch>
        </p:blipFill>
        <p:spPr>
          <a:xfrm>
            <a:off x="0" y="884903"/>
            <a:ext cx="12192000" cy="5338916"/>
          </a:xfrm>
          <a:prstGeom prst="rect">
            <a:avLst/>
          </a:prstGeom>
        </p:spPr>
      </p:pic>
      <p:sp>
        <p:nvSpPr>
          <p:cNvPr id="3" name="TextBox 2">
            <a:extLst>
              <a:ext uri="{FF2B5EF4-FFF2-40B4-BE49-F238E27FC236}">
                <a16:creationId xmlns:a16="http://schemas.microsoft.com/office/drawing/2014/main" id="{82198B4C-429F-0F4F-560E-ECEC324E9E98}"/>
              </a:ext>
            </a:extLst>
          </p:cNvPr>
          <p:cNvSpPr txBox="1"/>
          <p:nvPr/>
        </p:nvSpPr>
        <p:spPr>
          <a:xfrm>
            <a:off x="0" y="238572"/>
            <a:ext cx="6194323" cy="646331"/>
          </a:xfrm>
          <a:prstGeom prst="rect">
            <a:avLst/>
          </a:prstGeom>
          <a:noFill/>
        </p:spPr>
        <p:txBody>
          <a:bodyPr wrap="square" rtlCol="0">
            <a:spAutoFit/>
          </a:bodyPr>
          <a:lstStyle/>
          <a:p>
            <a:r>
              <a:rPr lang="en-IN" sz="3600" b="1" i="1" u="sng" dirty="0">
                <a:latin typeface="Aptos Narrow" panose="020B0004020202020204" pitchFamily="34" charset="0"/>
              </a:rPr>
              <a:t>Donut for univariate analysis</a:t>
            </a:r>
            <a:endParaRPr lang="en-IN" sz="3600" dirty="0"/>
          </a:p>
        </p:txBody>
      </p:sp>
    </p:spTree>
    <p:extLst>
      <p:ext uri="{BB962C8B-B14F-4D97-AF65-F5344CB8AC3E}">
        <p14:creationId xmlns:p14="http://schemas.microsoft.com/office/powerpoint/2010/main" val="23543859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D7987-E3E7-EB23-C566-2D01AC535906}"/>
              </a:ext>
            </a:extLst>
          </p:cNvPr>
          <p:cNvSpPr>
            <a:spLocks noGrp="1"/>
          </p:cNvSpPr>
          <p:nvPr>
            <p:ph type="title"/>
          </p:nvPr>
        </p:nvSpPr>
        <p:spPr>
          <a:xfrm>
            <a:off x="396240" y="-274955"/>
            <a:ext cx="10515600" cy="1325563"/>
          </a:xfrm>
        </p:spPr>
        <p:txBody>
          <a:bodyPr/>
          <a:lstStyle/>
          <a:p>
            <a:r>
              <a:rPr lang="en-IN" b="1" u="sng" dirty="0">
                <a:latin typeface="Aptos Narrow" panose="020B0004020202020204" pitchFamily="34" charset="0"/>
              </a:rPr>
              <a:t>Bivariate Analysis :</a:t>
            </a:r>
          </a:p>
        </p:txBody>
      </p:sp>
      <p:sp>
        <p:nvSpPr>
          <p:cNvPr id="3" name="Text Placeholder 2">
            <a:extLst>
              <a:ext uri="{FF2B5EF4-FFF2-40B4-BE49-F238E27FC236}">
                <a16:creationId xmlns:a16="http://schemas.microsoft.com/office/drawing/2014/main" id="{A1B69500-AB3C-7DAD-3163-71BB661C33ED}"/>
              </a:ext>
            </a:extLst>
          </p:cNvPr>
          <p:cNvSpPr>
            <a:spLocks noGrp="1"/>
          </p:cNvSpPr>
          <p:nvPr>
            <p:ph type="body" idx="1"/>
          </p:nvPr>
        </p:nvSpPr>
        <p:spPr>
          <a:xfrm>
            <a:off x="396240" y="557264"/>
            <a:ext cx="12192000" cy="6300736"/>
          </a:xfrm>
        </p:spPr>
        <p:txBody>
          <a:bodyPr>
            <a:normAutofit/>
          </a:bodyPr>
          <a:lstStyle/>
          <a:p>
            <a:r>
              <a:rPr lang="en-GB" sz="2400" i="1" dirty="0">
                <a:latin typeface="Aptos Narrow" panose="020B0004020202020204" pitchFamily="34" charset="0"/>
              </a:rPr>
              <a:t>Bivariate analysis examines the relationship between two variables to understand how one variable influences another</a:t>
            </a:r>
          </a:p>
          <a:p>
            <a:pPr marL="114300" indent="0">
              <a:buNone/>
            </a:pPr>
            <a:r>
              <a:rPr lang="en-IN" b="1" i="1" u="sng" dirty="0">
                <a:latin typeface="Aptos Narrow" panose="020B0004020202020204" pitchFamily="34" charset="0"/>
              </a:rPr>
              <a:t>visualizations used :</a:t>
            </a:r>
          </a:p>
          <a:p>
            <a:r>
              <a:rPr lang="en-IN" sz="2400" i="1" dirty="0">
                <a:latin typeface="Aptos Narrow" panose="020B0004020202020204" pitchFamily="34" charset="0"/>
              </a:rPr>
              <a:t>Bar plot</a:t>
            </a:r>
          </a:p>
          <a:p>
            <a:r>
              <a:rPr lang="en-IN" sz="2400" i="1" dirty="0">
                <a:latin typeface="Aptos Narrow" panose="020B0004020202020204" pitchFamily="34" charset="0"/>
              </a:rPr>
              <a:t>Scatter plot</a:t>
            </a:r>
          </a:p>
          <a:p>
            <a:pPr marL="114300" indent="0">
              <a:buNone/>
            </a:pPr>
            <a:r>
              <a:rPr lang="en-GB" b="1" i="1" u="sng" dirty="0">
                <a:latin typeface="Aptos Narrow" panose="020B0004020202020204" pitchFamily="34" charset="0"/>
              </a:rPr>
              <a:t>The goal of this analysis :</a:t>
            </a:r>
          </a:p>
          <a:p>
            <a:r>
              <a:rPr lang="en-IN" sz="2400" i="1" dirty="0">
                <a:latin typeface="Aptos Narrow" panose="020B0004020202020204" pitchFamily="34" charset="0"/>
              </a:rPr>
              <a:t>Identifying Relationship</a:t>
            </a:r>
          </a:p>
          <a:p>
            <a:r>
              <a:rPr lang="en-IN" sz="2400" i="1" dirty="0">
                <a:latin typeface="Aptos Narrow" panose="020B0004020202020204" pitchFamily="34" charset="0"/>
              </a:rPr>
              <a:t>Understanding Patterns</a:t>
            </a:r>
          </a:p>
          <a:p>
            <a:r>
              <a:rPr lang="en-IN" sz="2400" i="1" dirty="0">
                <a:latin typeface="Aptos Narrow" panose="020B0004020202020204" pitchFamily="34" charset="0"/>
              </a:rPr>
              <a:t>Comparing Groups</a:t>
            </a:r>
          </a:p>
          <a:p>
            <a:r>
              <a:rPr lang="en-IN" sz="2400" i="1" dirty="0">
                <a:latin typeface="Aptos Narrow" panose="020B0004020202020204" pitchFamily="34" charset="0"/>
              </a:rPr>
              <a:t>Predicting Outcomes</a:t>
            </a:r>
          </a:p>
          <a:p>
            <a:r>
              <a:rPr lang="en-IN" sz="2400" i="1" dirty="0">
                <a:latin typeface="Aptos Narrow" panose="020B0004020202020204" pitchFamily="34" charset="0"/>
              </a:rPr>
              <a:t>Spotting Outliers</a:t>
            </a:r>
          </a:p>
          <a:p>
            <a:pPr>
              <a:buFont typeface="Wingdings" panose="05000000000000000000" pitchFamily="2" charset="2"/>
              <a:buChar char="Ø"/>
            </a:pPr>
            <a:r>
              <a:rPr lang="en-GB" sz="2400" i="1" dirty="0">
                <a:latin typeface="Aptos Narrow" panose="020B0004020202020204" pitchFamily="34" charset="0"/>
              </a:rPr>
              <a:t>These visualizations help </a:t>
            </a:r>
            <a:r>
              <a:rPr lang="en-GB" sz="2400" i="1" dirty="0" err="1">
                <a:latin typeface="Aptos Narrow" panose="020B0004020202020204" pitchFamily="34" charset="0"/>
              </a:rPr>
              <a:t>analyze</a:t>
            </a:r>
            <a:r>
              <a:rPr lang="en-GB" sz="2400" i="1" dirty="0">
                <a:latin typeface="Aptos Narrow" panose="020B0004020202020204" pitchFamily="34" charset="0"/>
              </a:rPr>
              <a:t> relationships between travel package variables such as trip duration, price, discount, and savings</a:t>
            </a:r>
            <a:endParaRPr lang="en-IN" sz="2400" i="1" dirty="0">
              <a:latin typeface="Aptos Narrow" panose="020B0004020202020204" pitchFamily="34" charset="0"/>
            </a:endParaRPr>
          </a:p>
        </p:txBody>
      </p:sp>
    </p:spTree>
    <p:extLst>
      <p:ext uri="{BB962C8B-B14F-4D97-AF65-F5344CB8AC3E}">
        <p14:creationId xmlns:p14="http://schemas.microsoft.com/office/powerpoint/2010/main" val="10976362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308A6-034A-DBA0-9E3D-34D348C1589A}"/>
              </a:ext>
            </a:extLst>
          </p:cNvPr>
          <p:cNvSpPr>
            <a:spLocks noGrp="1"/>
          </p:cNvSpPr>
          <p:nvPr>
            <p:ph type="title"/>
          </p:nvPr>
        </p:nvSpPr>
        <p:spPr>
          <a:xfrm>
            <a:off x="241545" y="-313585"/>
            <a:ext cx="10515600" cy="1325563"/>
          </a:xfrm>
        </p:spPr>
        <p:txBody>
          <a:bodyPr>
            <a:normAutofit/>
          </a:bodyPr>
          <a:lstStyle/>
          <a:p>
            <a:r>
              <a:rPr lang="en-IN" sz="4000" b="1" i="1" u="sng" dirty="0">
                <a:latin typeface="Aptos Narrow" panose="020B0004020202020204" pitchFamily="34" charset="0"/>
              </a:rPr>
              <a:t>Visualizations In Bivariate Analysis :</a:t>
            </a:r>
            <a:endParaRPr lang="en-IN" sz="4000" i="1" dirty="0"/>
          </a:p>
        </p:txBody>
      </p:sp>
      <p:sp>
        <p:nvSpPr>
          <p:cNvPr id="3" name="Text Placeholder 2">
            <a:extLst>
              <a:ext uri="{FF2B5EF4-FFF2-40B4-BE49-F238E27FC236}">
                <a16:creationId xmlns:a16="http://schemas.microsoft.com/office/drawing/2014/main" id="{1883C8F5-0D2D-BE71-EDB7-42EE64466A21}"/>
              </a:ext>
            </a:extLst>
          </p:cNvPr>
          <p:cNvSpPr>
            <a:spLocks noGrp="1"/>
          </p:cNvSpPr>
          <p:nvPr>
            <p:ph type="body" idx="1"/>
          </p:nvPr>
        </p:nvSpPr>
        <p:spPr>
          <a:xfrm>
            <a:off x="241545" y="595002"/>
            <a:ext cx="12192000" cy="6064762"/>
          </a:xfrm>
        </p:spPr>
        <p:txBody>
          <a:bodyPr/>
          <a:lstStyle/>
          <a:p>
            <a:pPr marL="114300" indent="0">
              <a:buNone/>
            </a:pPr>
            <a:r>
              <a:rPr lang="en-IN" dirty="0"/>
              <a:t>                                                       </a:t>
            </a:r>
            <a:r>
              <a:rPr lang="en-IN" sz="3200" b="1" i="1" u="sng" dirty="0">
                <a:latin typeface="Aptos Narrow" panose="020B0004020202020204" pitchFamily="34" charset="0"/>
              </a:rPr>
              <a:t>Bar Plot bivariate</a:t>
            </a:r>
          </a:p>
          <a:p>
            <a:pPr marL="114300" indent="0">
              <a:buNone/>
            </a:pPr>
            <a:r>
              <a:rPr lang="en-IN" dirty="0">
                <a:latin typeface="Aptos Narrow" panose="020B0004020202020204" pitchFamily="34" charset="0"/>
              </a:rPr>
              <a:t>                                 </a:t>
            </a:r>
            <a:endParaRPr lang="en-IN" b="1" i="1" u="sng" dirty="0">
              <a:latin typeface="Aptos Narrow" panose="020B0004020202020204" pitchFamily="34" charset="0"/>
            </a:endParaRPr>
          </a:p>
        </p:txBody>
      </p:sp>
      <p:pic>
        <p:nvPicPr>
          <p:cNvPr id="6" name="Picture 5">
            <a:extLst>
              <a:ext uri="{FF2B5EF4-FFF2-40B4-BE49-F238E27FC236}">
                <a16:creationId xmlns:a16="http://schemas.microsoft.com/office/drawing/2014/main" id="{7E173877-54C5-F908-4293-2CDA818341C2}"/>
              </a:ext>
            </a:extLst>
          </p:cNvPr>
          <p:cNvPicPr>
            <a:picLocks noChangeAspect="1"/>
          </p:cNvPicPr>
          <p:nvPr/>
        </p:nvPicPr>
        <p:blipFill>
          <a:blip r:embed="rId2"/>
          <a:stretch>
            <a:fillRect/>
          </a:stretch>
        </p:blipFill>
        <p:spPr>
          <a:xfrm>
            <a:off x="134701" y="1199385"/>
            <a:ext cx="11922597" cy="5063613"/>
          </a:xfrm>
          <a:prstGeom prst="rect">
            <a:avLst/>
          </a:prstGeom>
        </p:spPr>
      </p:pic>
    </p:spTree>
    <p:extLst>
      <p:ext uri="{BB962C8B-B14F-4D97-AF65-F5344CB8AC3E}">
        <p14:creationId xmlns:p14="http://schemas.microsoft.com/office/powerpoint/2010/main" val="23619525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39CD59C-C7E1-E200-28BA-45410EF6BA05}"/>
              </a:ext>
            </a:extLst>
          </p:cNvPr>
          <p:cNvPicPr>
            <a:picLocks noChangeAspect="1"/>
          </p:cNvPicPr>
          <p:nvPr/>
        </p:nvPicPr>
        <p:blipFill>
          <a:blip r:embed="rId2"/>
          <a:stretch>
            <a:fillRect/>
          </a:stretch>
        </p:blipFill>
        <p:spPr>
          <a:xfrm>
            <a:off x="2084094" y="896523"/>
            <a:ext cx="6666616" cy="5738998"/>
          </a:xfrm>
          <a:prstGeom prst="rect">
            <a:avLst/>
          </a:prstGeom>
        </p:spPr>
      </p:pic>
      <p:sp>
        <p:nvSpPr>
          <p:cNvPr id="2" name="TextBox 1">
            <a:extLst>
              <a:ext uri="{FF2B5EF4-FFF2-40B4-BE49-F238E27FC236}">
                <a16:creationId xmlns:a16="http://schemas.microsoft.com/office/drawing/2014/main" id="{65AD013A-06CF-E535-9CB8-E116A7CA6857}"/>
              </a:ext>
            </a:extLst>
          </p:cNvPr>
          <p:cNvSpPr txBox="1"/>
          <p:nvPr/>
        </p:nvSpPr>
        <p:spPr>
          <a:xfrm>
            <a:off x="2084094" y="263596"/>
            <a:ext cx="6666616" cy="646331"/>
          </a:xfrm>
          <a:prstGeom prst="rect">
            <a:avLst/>
          </a:prstGeom>
          <a:noFill/>
        </p:spPr>
        <p:txBody>
          <a:bodyPr wrap="square" rtlCol="0">
            <a:spAutoFit/>
          </a:bodyPr>
          <a:lstStyle/>
          <a:p>
            <a:r>
              <a:rPr lang="en-IN" sz="3600" b="1" i="1" u="sng" dirty="0">
                <a:latin typeface="Aptos Narrow" panose="020B0004020202020204" pitchFamily="34" charset="0"/>
              </a:rPr>
              <a:t>Scatter plot for bivariate analysis</a:t>
            </a:r>
            <a:endParaRPr lang="en-IN" sz="3600" dirty="0"/>
          </a:p>
        </p:txBody>
      </p:sp>
    </p:spTree>
    <p:extLst>
      <p:ext uri="{BB962C8B-B14F-4D97-AF65-F5344CB8AC3E}">
        <p14:creationId xmlns:p14="http://schemas.microsoft.com/office/powerpoint/2010/main" val="8998416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6DCE2-9BAA-F355-2EB1-DB78EA07F7A8}"/>
              </a:ext>
            </a:extLst>
          </p:cNvPr>
          <p:cNvSpPr>
            <a:spLocks noGrp="1"/>
          </p:cNvSpPr>
          <p:nvPr>
            <p:ph type="title"/>
          </p:nvPr>
        </p:nvSpPr>
        <p:spPr>
          <a:xfrm>
            <a:off x="314960" y="-184170"/>
            <a:ext cx="10515600" cy="1325563"/>
          </a:xfrm>
        </p:spPr>
        <p:txBody>
          <a:bodyPr/>
          <a:lstStyle/>
          <a:p>
            <a:r>
              <a:rPr lang="en-IN" b="1" i="1" u="sng" dirty="0">
                <a:latin typeface="Aptos Narrow" panose="020B0004020202020204" pitchFamily="34" charset="0"/>
              </a:rPr>
              <a:t>Multivariate Analysis :</a:t>
            </a:r>
          </a:p>
        </p:txBody>
      </p:sp>
      <p:sp>
        <p:nvSpPr>
          <p:cNvPr id="3" name="Text Placeholder 2">
            <a:extLst>
              <a:ext uri="{FF2B5EF4-FFF2-40B4-BE49-F238E27FC236}">
                <a16:creationId xmlns:a16="http://schemas.microsoft.com/office/drawing/2014/main" id="{328668EE-C904-A4F3-2449-F00A65CCA23F}"/>
              </a:ext>
            </a:extLst>
          </p:cNvPr>
          <p:cNvSpPr>
            <a:spLocks noGrp="1"/>
          </p:cNvSpPr>
          <p:nvPr>
            <p:ph type="body" idx="1"/>
          </p:nvPr>
        </p:nvSpPr>
        <p:spPr>
          <a:xfrm>
            <a:off x="233680" y="616257"/>
            <a:ext cx="12192000" cy="6241743"/>
          </a:xfrm>
        </p:spPr>
        <p:txBody>
          <a:bodyPr>
            <a:normAutofit/>
          </a:bodyPr>
          <a:lstStyle/>
          <a:p>
            <a:pPr marL="114300" indent="0">
              <a:buNone/>
            </a:pPr>
            <a:r>
              <a:rPr lang="en-GB" i="1" dirty="0">
                <a:latin typeface="Aptos Narrow" panose="020B0004020202020204" pitchFamily="34" charset="0"/>
              </a:rPr>
              <a:t>Multivariate analysis examines the relationship between three or more variables simultaneously</a:t>
            </a:r>
          </a:p>
          <a:p>
            <a:pPr marL="114300" indent="0">
              <a:buNone/>
            </a:pPr>
            <a:r>
              <a:rPr lang="en-IN" b="1" i="1" u="sng" dirty="0">
                <a:latin typeface="Aptos Narrow" panose="020B0004020202020204" pitchFamily="34" charset="0"/>
              </a:rPr>
              <a:t>visualizations used :</a:t>
            </a:r>
          </a:p>
          <a:p>
            <a:r>
              <a:rPr lang="en-IN" sz="2400" i="1" dirty="0">
                <a:latin typeface="Aptos Narrow" panose="020B0004020202020204" pitchFamily="34" charset="0"/>
              </a:rPr>
              <a:t>Correlation Heatmap</a:t>
            </a:r>
          </a:p>
          <a:p>
            <a:r>
              <a:rPr lang="en-IN" sz="2400" i="1" dirty="0">
                <a:latin typeface="Aptos Narrow" panose="020B0004020202020204" pitchFamily="34" charset="0"/>
              </a:rPr>
              <a:t>Pair plot</a:t>
            </a:r>
          </a:p>
          <a:p>
            <a:pPr marL="114300" indent="0">
              <a:buNone/>
            </a:pPr>
            <a:r>
              <a:rPr lang="en-GB" b="1" i="1" u="sng" dirty="0">
                <a:latin typeface="Aptos Narrow" panose="020B0004020202020204" pitchFamily="34" charset="0"/>
              </a:rPr>
              <a:t>The goal of this analysis :</a:t>
            </a:r>
          </a:p>
          <a:p>
            <a:r>
              <a:rPr lang="en-GB" sz="2400" i="1" dirty="0">
                <a:latin typeface="Aptos Narrow" panose="020B0004020202020204" pitchFamily="34" charset="0"/>
              </a:rPr>
              <a:t>Understanding Relationships</a:t>
            </a:r>
          </a:p>
          <a:p>
            <a:r>
              <a:rPr lang="en-GB" sz="2400" i="1" dirty="0">
                <a:latin typeface="Aptos Narrow" panose="020B0004020202020204" pitchFamily="34" charset="0"/>
              </a:rPr>
              <a:t>Data Reduction(Dimensionality Reduction)</a:t>
            </a:r>
          </a:p>
          <a:p>
            <a:r>
              <a:rPr lang="en-GB" sz="2400" i="1" dirty="0">
                <a:latin typeface="Aptos Narrow" panose="020B0004020202020204" pitchFamily="34" charset="0"/>
              </a:rPr>
              <a:t>Prediction &amp; Forecasting</a:t>
            </a:r>
          </a:p>
          <a:p>
            <a:r>
              <a:rPr lang="en-GB" sz="2400" i="1" dirty="0">
                <a:latin typeface="Aptos Narrow" panose="020B0004020202020204" pitchFamily="34" charset="0"/>
              </a:rPr>
              <a:t>Classification &amp; Clustering</a:t>
            </a:r>
          </a:p>
          <a:p>
            <a:pPr>
              <a:buFont typeface="Wingdings" panose="05000000000000000000" pitchFamily="2" charset="2"/>
              <a:buChar char="Ø"/>
            </a:pPr>
            <a:r>
              <a:rPr lang="en-GB" sz="2400" i="1" dirty="0">
                <a:latin typeface="Aptos Narrow" panose="020B0004020202020204" pitchFamily="34" charset="0"/>
              </a:rPr>
              <a:t>These visualizations help </a:t>
            </a:r>
            <a:r>
              <a:rPr lang="en-GB" sz="2400" i="1" dirty="0" err="1">
                <a:latin typeface="Aptos Narrow" panose="020B0004020202020204" pitchFamily="34" charset="0"/>
              </a:rPr>
              <a:t>analyze</a:t>
            </a:r>
            <a:r>
              <a:rPr lang="en-GB" sz="2400" i="1" dirty="0">
                <a:latin typeface="Aptos Narrow" panose="020B0004020202020204" pitchFamily="34" charset="0"/>
              </a:rPr>
              <a:t> how multiple variables interact with each other in </a:t>
            </a:r>
          </a:p>
          <a:p>
            <a:pPr marL="114300" indent="0">
              <a:buNone/>
            </a:pPr>
            <a:r>
              <a:rPr lang="en-GB" sz="2400" i="1" dirty="0">
                <a:latin typeface="Aptos Narrow" panose="020B0004020202020204" pitchFamily="34" charset="0"/>
              </a:rPr>
              <a:t>      the dataset</a:t>
            </a:r>
            <a:endParaRPr lang="en-IN" sz="2400" i="1" dirty="0">
              <a:latin typeface="Aptos Narrow" panose="020B0004020202020204" pitchFamily="34" charset="0"/>
            </a:endParaRPr>
          </a:p>
        </p:txBody>
      </p:sp>
    </p:spTree>
    <p:extLst>
      <p:ext uri="{BB962C8B-B14F-4D97-AF65-F5344CB8AC3E}">
        <p14:creationId xmlns:p14="http://schemas.microsoft.com/office/powerpoint/2010/main" val="20298788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8B132-7697-829A-F86D-60BEC14CE496}"/>
              </a:ext>
            </a:extLst>
          </p:cNvPr>
          <p:cNvSpPr>
            <a:spLocks noGrp="1"/>
          </p:cNvSpPr>
          <p:nvPr>
            <p:ph type="title"/>
          </p:nvPr>
        </p:nvSpPr>
        <p:spPr>
          <a:xfrm>
            <a:off x="335280" y="-341164"/>
            <a:ext cx="10515600" cy="1325563"/>
          </a:xfrm>
        </p:spPr>
        <p:txBody>
          <a:bodyPr/>
          <a:lstStyle/>
          <a:p>
            <a:r>
              <a:rPr lang="en-IN" sz="4400" b="1" i="1" u="sng" dirty="0">
                <a:latin typeface="Aptos Narrow" panose="020B0004020202020204" pitchFamily="34" charset="0"/>
              </a:rPr>
              <a:t>Visualizations In Multivariate Analysis </a:t>
            </a:r>
            <a:r>
              <a:rPr lang="en-IN" sz="4400" b="1" u="sng" dirty="0">
                <a:latin typeface="Aptos Narrow" panose="020B0004020202020204" pitchFamily="34" charset="0"/>
              </a:rPr>
              <a:t>:</a:t>
            </a:r>
            <a:endParaRPr lang="en-IN" dirty="0"/>
          </a:p>
        </p:txBody>
      </p:sp>
      <p:sp>
        <p:nvSpPr>
          <p:cNvPr id="3" name="Text Placeholder 2">
            <a:extLst>
              <a:ext uri="{FF2B5EF4-FFF2-40B4-BE49-F238E27FC236}">
                <a16:creationId xmlns:a16="http://schemas.microsoft.com/office/drawing/2014/main" id="{7455A5A0-54F3-56EF-6EBD-F2FD3B5C3F39}"/>
              </a:ext>
            </a:extLst>
          </p:cNvPr>
          <p:cNvSpPr>
            <a:spLocks noGrp="1"/>
          </p:cNvSpPr>
          <p:nvPr>
            <p:ph type="body" idx="1"/>
          </p:nvPr>
        </p:nvSpPr>
        <p:spPr>
          <a:xfrm>
            <a:off x="0" y="481318"/>
            <a:ext cx="12192000" cy="6091545"/>
          </a:xfrm>
        </p:spPr>
        <p:txBody>
          <a:bodyPr/>
          <a:lstStyle/>
          <a:p>
            <a:pPr marL="114300" indent="0">
              <a:buNone/>
            </a:pPr>
            <a:r>
              <a:rPr lang="en-IN" sz="2800" dirty="0">
                <a:latin typeface="Aptos Narrow" panose="020B0004020202020204" pitchFamily="34" charset="0"/>
              </a:rPr>
              <a:t>                                                </a:t>
            </a:r>
            <a:r>
              <a:rPr lang="en-IN" sz="2800" b="1" i="1" u="sng" dirty="0">
                <a:latin typeface="Aptos Narrow" panose="020B0004020202020204" pitchFamily="34" charset="0"/>
              </a:rPr>
              <a:t>Correlation Heatmap</a:t>
            </a:r>
          </a:p>
          <a:p>
            <a:pPr marL="114300" indent="0">
              <a:buNone/>
            </a:pPr>
            <a:endParaRPr lang="en-IN" dirty="0"/>
          </a:p>
        </p:txBody>
      </p:sp>
      <p:pic>
        <p:nvPicPr>
          <p:cNvPr id="5" name="Picture 4">
            <a:extLst>
              <a:ext uri="{FF2B5EF4-FFF2-40B4-BE49-F238E27FC236}">
                <a16:creationId xmlns:a16="http://schemas.microsoft.com/office/drawing/2014/main" id="{4AAB0239-9C07-5D4A-2101-B138B8C1ED83}"/>
              </a:ext>
            </a:extLst>
          </p:cNvPr>
          <p:cNvPicPr>
            <a:picLocks noChangeAspect="1"/>
          </p:cNvPicPr>
          <p:nvPr/>
        </p:nvPicPr>
        <p:blipFill>
          <a:blip r:embed="rId2"/>
          <a:stretch>
            <a:fillRect/>
          </a:stretch>
        </p:blipFill>
        <p:spPr>
          <a:xfrm>
            <a:off x="117991" y="1286562"/>
            <a:ext cx="8711380" cy="5379712"/>
          </a:xfrm>
          <a:prstGeom prst="rect">
            <a:avLst/>
          </a:prstGeom>
        </p:spPr>
      </p:pic>
    </p:spTree>
    <p:extLst>
      <p:ext uri="{BB962C8B-B14F-4D97-AF65-F5344CB8AC3E}">
        <p14:creationId xmlns:p14="http://schemas.microsoft.com/office/powerpoint/2010/main" val="29233547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A1B6BC9-FE15-935D-CE94-D296383046A8}"/>
              </a:ext>
            </a:extLst>
          </p:cNvPr>
          <p:cNvPicPr>
            <a:picLocks noChangeAspect="1"/>
          </p:cNvPicPr>
          <p:nvPr/>
        </p:nvPicPr>
        <p:blipFill>
          <a:blip r:embed="rId2"/>
          <a:stretch>
            <a:fillRect/>
          </a:stretch>
        </p:blipFill>
        <p:spPr>
          <a:xfrm>
            <a:off x="717755" y="618655"/>
            <a:ext cx="8170606" cy="6170521"/>
          </a:xfrm>
          <a:prstGeom prst="rect">
            <a:avLst/>
          </a:prstGeom>
        </p:spPr>
      </p:pic>
      <p:sp>
        <p:nvSpPr>
          <p:cNvPr id="4" name="TextBox 3">
            <a:extLst>
              <a:ext uri="{FF2B5EF4-FFF2-40B4-BE49-F238E27FC236}">
                <a16:creationId xmlns:a16="http://schemas.microsoft.com/office/drawing/2014/main" id="{435DFE1D-6116-EBEC-9D21-6F036D2BBA40}"/>
              </a:ext>
            </a:extLst>
          </p:cNvPr>
          <p:cNvSpPr txBox="1"/>
          <p:nvPr/>
        </p:nvSpPr>
        <p:spPr>
          <a:xfrm>
            <a:off x="953729" y="88490"/>
            <a:ext cx="2959510" cy="523220"/>
          </a:xfrm>
          <a:prstGeom prst="rect">
            <a:avLst/>
          </a:prstGeom>
          <a:noFill/>
        </p:spPr>
        <p:txBody>
          <a:bodyPr wrap="square" rtlCol="0">
            <a:spAutoFit/>
          </a:bodyPr>
          <a:lstStyle/>
          <a:p>
            <a:r>
              <a:rPr lang="en-IN" sz="2800" b="1" i="1" u="sng" dirty="0">
                <a:latin typeface="Aptos Narrow" panose="020B0004020202020204" pitchFamily="34" charset="0"/>
              </a:rPr>
              <a:t>Pair Plot :</a:t>
            </a:r>
          </a:p>
        </p:txBody>
      </p:sp>
    </p:spTree>
    <p:extLst>
      <p:ext uri="{BB962C8B-B14F-4D97-AF65-F5344CB8AC3E}">
        <p14:creationId xmlns:p14="http://schemas.microsoft.com/office/powerpoint/2010/main" val="27124495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A1976-D93B-4D38-48A6-5F5BEDD52065}"/>
              </a:ext>
            </a:extLst>
          </p:cNvPr>
          <p:cNvSpPr>
            <a:spLocks noGrp="1"/>
          </p:cNvSpPr>
          <p:nvPr>
            <p:ph type="title"/>
          </p:nvPr>
        </p:nvSpPr>
        <p:spPr>
          <a:xfrm>
            <a:off x="518160" y="-60960"/>
            <a:ext cx="10515600" cy="1325563"/>
          </a:xfrm>
        </p:spPr>
        <p:txBody>
          <a:bodyPr/>
          <a:lstStyle/>
          <a:p>
            <a:r>
              <a:rPr lang="en-GB" b="1" i="1" u="sng" dirty="0">
                <a:latin typeface="Aptos Narrow" panose="020B0004020202020204" pitchFamily="34" charset="0"/>
              </a:rPr>
              <a:t>Business Insight From Project :</a:t>
            </a:r>
            <a:endParaRPr lang="en-IN" b="1" i="1" u="sng" dirty="0">
              <a:latin typeface="Aptos Narrow" panose="020B0004020202020204" pitchFamily="34" charset="0"/>
            </a:endParaRPr>
          </a:p>
        </p:txBody>
      </p:sp>
      <p:sp>
        <p:nvSpPr>
          <p:cNvPr id="3" name="Text Placeholder 2">
            <a:extLst>
              <a:ext uri="{FF2B5EF4-FFF2-40B4-BE49-F238E27FC236}">
                <a16:creationId xmlns:a16="http://schemas.microsoft.com/office/drawing/2014/main" id="{15161462-C487-6A24-DC26-25B09093B7E1}"/>
              </a:ext>
            </a:extLst>
          </p:cNvPr>
          <p:cNvSpPr>
            <a:spLocks noGrp="1"/>
          </p:cNvSpPr>
          <p:nvPr>
            <p:ph type="body" idx="1"/>
          </p:nvPr>
        </p:nvSpPr>
        <p:spPr>
          <a:xfrm>
            <a:off x="640080" y="1175385"/>
            <a:ext cx="10515600" cy="4351338"/>
          </a:xfrm>
        </p:spPr>
        <p:txBody>
          <a:bodyPr>
            <a:normAutofit/>
          </a:bodyPr>
          <a:lstStyle/>
          <a:p>
            <a:r>
              <a:rPr lang="en-GB" sz="3200" i="1" dirty="0">
                <a:latin typeface="Aptos Narrow" panose="020B0004020202020204" pitchFamily="34" charset="0"/>
              </a:rPr>
              <a:t>Pricing Strategy Insight</a:t>
            </a:r>
          </a:p>
          <a:p>
            <a:r>
              <a:rPr lang="en-GB" sz="3200" i="1" dirty="0">
                <a:latin typeface="Aptos Narrow" panose="020B0004020202020204" pitchFamily="34" charset="0"/>
              </a:rPr>
              <a:t>Discount Strategy Insight</a:t>
            </a:r>
          </a:p>
          <a:p>
            <a:r>
              <a:rPr lang="en-GB" sz="3200" i="1" dirty="0">
                <a:latin typeface="Aptos Narrow" panose="020B0004020202020204" pitchFamily="34" charset="0"/>
              </a:rPr>
              <a:t>Customer Value Insight</a:t>
            </a:r>
          </a:p>
          <a:p>
            <a:r>
              <a:rPr lang="en-GB" sz="3200" i="1" dirty="0">
                <a:latin typeface="Aptos Narrow" panose="020B0004020202020204" pitchFamily="34" charset="0"/>
              </a:rPr>
              <a:t>Demand Pattern Insight</a:t>
            </a:r>
          </a:p>
          <a:p>
            <a:r>
              <a:rPr lang="en-GB" sz="3200" i="1" dirty="0">
                <a:latin typeface="Aptos Narrow" panose="020B0004020202020204" pitchFamily="34" charset="0"/>
              </a:rPr>
              <a:t>Market Competitiveness Insight</a:t>
            </a:r>
          </a:p>
        </p:txBody>
      </p:sp>
    </p:spTree>
    <p:extLst>
      <p:ext uri="{BB962C8B-B14F-4D97-AF65-F5344CB8AC3E}">
        <p14:creationId xmlns:p14="http://schemas.microsoft.com/office/powerpoint/2010/main" val="13082921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C147F-874F-D218-E9D5-10EA521659B4}"/>
              </a:ext>
            </a:extLst>
          </p:cNvPr>
          <p:cNvSpPr>
            <a:spLocks noGrp="1"/>
          </p:cNvSpPr>
          <p:nvPr>
            <p:ph type="title"/>
          </p:nvPr>
        </p:nvSpPr>
        <p:spPr>
          <a:xfrm>
            <a:off x="375920" y="-233332"/>
            <a:ext cx="10515600" cy="1325563"/>
          </a:xfrm>
        </p:spPr>
        <p:txBody>
          <a:bodyPr/>
          <a:lstStyle/>
          <a:p>
            <a:r>
              <a:rPr lang="en-IN" b="1" i="1" u="sng" dirty="0">
                <a:latin typeface="Aptos Narrow" panose="020B0004020202020204" pitchFamily="34" charset="0"/>
              </a:rPr>
              <a:t>Key Business Questions :</a:t>
            </a:r>
          </a:p>
        </p:txBody>
      </p:sp>
      <p:sp>
        <p:nvSpPr>
          <p:cNvPr id="3" name="Text Placeholder 2">
            <a:extLst>
              <a:ext uri="{FF2B5EF4-FFF2-40B4-BE49-F238E27FC236}">
                <a16:creationId xmlns:a16="http://schemas.microsoft.com/office/drawing/2014/main" id="{24C9B0FA-ECCE-BA4F-FCCB-07CD7E9A1F96}"/>
              </a:ext>
            </a:extLst>
          </p:cNvPr>
          <p:cNvSpPr>
            <a:spLocks noGrp="1"/>
          </p:cNvSpPr>
          <p:nvPr>
            <p:ph type="body" idx="1"/>
          </p:nvPr>
        </p:nvSpPr>
        <p:spPr>
          <a:xfrm>
            <a:off x="243840" y="538480"/>
            <a:ext cx="11948160" cy="6319519"/>
          </a:xfrm>
        </p:spPr>
        <p:txBody>
          <a:bodyPr>
            <a:normAutofit/>
          </a:bodyPr>
          <a:lstStyle/>
          <a:p>
            <a:pPr marL="114300" indent="0">
              <a:buNone/>
            </a:pPr>
            <a:endParaRPr lang="en-GB" sz="3600" b="1" u="sng" dirty="0">
              <a:latin typeface="Aptos Narrow" panose="020B0004020202020204" pitchFamily="34" charset="0"/>
            </a:endParaRPr>
          </a:p>
          <a:p>
            <a:pPr marL="114300" indent="0">
              <a:buNone/>
            </a:pPr>
            <a:r>
              <a:rPr lang="en-GB" sz="3600" b="1" i="1" u="sng" dirty="0">
                <a:latin typeface="Aptos Narrow" panose="020B0004020202020204" pitchFamily="34" charset="0"/>
              </a:rPr>
              <a:t>This analysis aims to answer the following business questions:</a:t>
            </a:r>
            <a:endParaRPr lang="en-GB" sz="3200" b="1" u="sng" dirty="0">
              <a:latin typeface="Aptos Narrow" panose="020B0004020202020204" pitchFamily="34" charset="0"/>
            </a:endParaRPr>
          </a:p>
          <a:p>
            <a:pPr>
              <a:buFont typeface="Wingdings" panose="05000000000000000000" pitchFamily="2" charset="2"/>
              <a:buChar char="ü"/>
            </a:pPr>
            <a:r>
              <a:rPr lang="en-GB" sz="3200" i="1" dirty="0">
                <a:latin typeface="Aptos Narrow" panose="020B0004020202020204" pitchFamily="34" charset="0"/>
              </a:rPr>
              <a:t>Does trip duration affect travel package price?</a:t>
            </a:r>
          </a:p>
          <a:p>
            <a:pPr>
              <a:buFont typeface="Wingdings" panose="05000000000000000000" pitchFamily="2" charset="2"/>
              <a:buChar char="ü"/>
            </a:pPr>
            <a:r>
              <a:rPr lang="en-GB" sz="3200" i="1" dirty="0">
                <a:latin typeface="Aptos Narrow" panose="020B0004020202020204" pitchFamily="34" charset="0"/>
              </a:rPr>
              <a:t>Do higher discounts lead to higher savings?</a:t>
            </a:r>
          </a:p>
          <a:p>
            <a:pPr>
              <a:buFont typeface="Wingdings" panose="05000000000000000000" pitchFamily="2" charset="2"/>
              <a:buChar char="ü"/>
            </a:pPr>
            <a:r>
              <a:rPr lang="en-GB" sz="3200" i="1" dirty="0">
                <a:latin typeface="Aptos Narrow" panose="020B0004020202020204" pitchFamily="34" charset="0"/>
              </a:rPr>
              <a:t>What is the relationship between original price and discounted price?</a:t>
            </a:r>
          </a:p>
          <a:p>
            <a:pPr>
              <a:buFont typeface="Wingdings" panose="05000000000000000000" pitchFamily="2" charset="2"/>
              <a:buChar char="ü"/>
            </a:pPr>
            <a:r>
              <a:rPr lang="en-GB" sz="3200" i="1" dirty="0">
                <a:latin typeface="Aptos Narrow" panose="020B0004020202020204" pitchFamily="34" charset="0"/>
              </a:rPr>
              <a:t>What is the relationship between original price and discounted price?</a:t>
            </a:r>
          </a:p>
          <a:p>
            <a:pPr marL="114300" indent="0">
              <a:buNone/>
            </a:pPr>
            <a:endParaRPr lang="en-GB" sz="3200" i="1" u="sng" dirty="0">
              <a:latin typeface="Aptos Narrow" panose="020B0004020202020204" pitchFamily="34" charset="0"/>
            </a:endParaRPr>
          </a:p>
          <a:p>
            <a:pPr>
              <a:buFont typeface="Wingdings" panose="05000000000000000000" pitchFamily="2" charset="2"/>
              <a:buChar char="Ø"/>
            </a:pPr>
            <a:r>
              <a:rPr lang="en-GB" sz="2400" i="1" dirty="0">
                <a:latin typeface="Aptos Narrow" panose="020B0004020202020204" pitchFamily="34" charset="0"/>
              </a:rPr>
              <a:t>Understanding these questions helps identify travel pricing patterns and discount strategies.</a:t>
            </a:r>
          </a:p>
          <a:p>
            <a:pPr marL="114300" indent="0">
              <a:buNone/>
            </a:pPr>
            <a:endParaRPr lang="en-IN" sz="3200" b="1" u="sng" dirty="0">
              <a:latin typeface="Aptos Narrow" panose="020B0004020202020204" pitchFamily="34" charset="0"/>
            </a:endParaRPr>
          </a:p>
        </p:txBody>
      </p:sp>
    </p:spTree>
    <p:extLst>
      <p:ext uri="{BB962C8B-B14F-4D97-AF65-F5344CB8AC3E}">
        <p14:creationId xmlns:p14="http://schemas.microsoft.com/office/powerpoint/2010/main" val="30575057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F5B84-7A33-F45B-A202-4A576AB11CEB}"/>
              </a:ext>
            </a:extLst>
          </p:cNvPr>
          <p:cNvSpPr>
            <a:spLocks noGrp="1"/>
          </p:cNvSpPr>
          <p:nvPr>
            <p:ph type="title"/>
          </p:nvPr>
        </p:nvSpPr>
        <p:spPr>
          <a:xfrm>
            <a:off x="508000" y="-224483"/>
            <a:ext cx="10515600" cy="1325563"/>
          </a:xfrm>
        </p:spPr>
        <p:txBody>
          <a:bodyPr/>
          <a:lstStyle/>
          <a:p>
            <a:r>
              <a:rPr lang="en-IN" b="1" i="1" u="sng" dirty="0">
                <a:latin typeface="Aptos Narrow" panose="020B0004020202020204" pitchFamily="34" charset="0"/>
              </a:rPr>
              <a:t>Conclusion (Key Findings) :</a:t>
            </a:r>
          </a:p>
        </p:txBody>
      </p:sp>
      <p:sp>
        <p:nvSpPr>
          <p:cNvPr id="3" name="Text Placeholder 2">
            <a:extLst>
              <a:ext uri="{FF2B5EF4-FFF2-40B4-BE49-F238E27FC236}">
                <a16:creationId xmlns:a16="http://schemas.microsoft.com/office/drawing/2014/main" id="{39D7ED6A-6BE2-BB76-FA02-671B22C841CF}"/>
              </a:ext>
            </a:extLst>
          </p:cNvPr>
          <p:cNvSpPr>
            <a:spLocks noGrp="1"/>
          </p:cNvSpPr>
          <p:nvPr>
            <p:ph type="body" idx="1"/>
          </p:nvPr>
        </p:nvSpPr>
        <p:spPr>
          <a:xfrm>
            <a:off x="365760" y="912106"/>
            <a:ext cx="12192000" cy="5874774"/>
          </a:xfrm>
        </p:spPr>
        <p:txBody>
          <a:bodyPr/>
          <a:lstStyle/>
          <a:p>
            <a:pPr marL="114300" indent="0">
              <a:buNone/>
            </a:pPr>
            <a:r>
              <a:rPr lang="en-GB" b="1" i="1" u="sng" dirty="0">
                <a:latin typeface="Aptos Narrow" panose="020B0004020202020204" pitchFamily="34" charset="0"/>
              </a:rPr>
              <a:t>The analysis of travel package data revealed several important insights :</a:t>
            </a:r>
          </a:p>
          <a:p>
            <a:pPr>
              <a:lnSpc>
                <a:spcPct val="150000"/>
              </a:lnSpc>
              <a:buFont typeface="Wingdings" panose="05000000000000000000" pitchFamily="2" charset="2"/>
              <a:buChar char="ü"/>
            </a:pPr>
            <a:r>
              <a:rPr lang="en-GB" i="1" dirty="0">
                <a:latin typeface="Aptos Narrow" panose="020B0004020202020204" pitchFamily="34" charset="0"/>
              </a:rPr>
              <a:t>Travel package prices vary based on duration and discounts</a:t>
            </a:r>
          </a:p>
          <a:p>
            <a:pPr>
              <a:lnSpc>
                <a:spcPct val="150000"/>
              </a:lnSpc>
              <a:buFont typeface="Wingdings" panose="05000000000000000000" pitchFamily="2" charset="2"/>
              <a:buChar char="ü"/>
            </a:pPr>
            <a:r>
              <a:rPr lang="en-GB" i="1" dirty="0">
                <a:latin typeface="Aptos Narrow" panose="020B0004020202020204" pitchFamily="34" charset="0"/>
              </a:rPr>
              <a:t>Discounted prices are strongly related to original package prices</a:t>
            </a:r>
          </a:p>
          <a:p>
            <a:pPr>
              <a:lnSpc>
                <a:spcPct val="150000"/>
              </a:lnSpc>
              <a:buFont typeface="Wingdings" panose="05000000000000000000" pitchFamily="2" charset="2"/>
              <a:buChar char="ü"/>
            </a:pPr>
            <a:r>
              <a:rPr lang="en-GB" i="1" dirty="0">
                <a:latin typeface="Aptos Narrow" panose="020B0004020202020204" pitchFamily="34" charset="0"/>
              </a:rPr>
              <a:t>Savings increase when discount percentages increase</a:t>
            </a:r>
          </a:p>
          <a:p>
            <a:pPr>
              <a:lnSpc>
                <a:spcPct val="150000"/>
              </a:lnSpc>
              <a:buFont typeface="Wingdings" panose="05000000000000000000" pitchFamily="2" charset="2"/>
              <a:buChar char="ü"/>
            </a:pPr>
            <a:r>
              <a:rPr lang="en-GB" i="1" dirty="0">
                <a:latin typeface="Aptos Narrow" panose="020B0004020202020204" pitchFamily="34" charset="0"/>
              </a:rPr>
              <a:t>Trip duration plays a role in determining package pricing</a:t>
            </a:r>
          </a:p>
          <a:p>
            <a:pPr>
              <a:lnSpc>
                <a:spcPct val="150000"/>
              </a:lnSpc>
              <a:buFont typeface="Wingdings" panose="05000000000000000000" pitchFamily="2" charset="2"/>
              <a:buChar char="ü"/>
            </a:pPr>
            <a:r>
              <a:rPr lang="en-GB" i="1" dirty="0">
                <a:latin typeface="Aptos Narrow" panose="020B0004020202020204" pitchFamily="34" charset="0"/>
              </a:rPr>
              <a:t>This project demonstrates how web scraping and exploratory data analysis can extract meaningful insights from real-world travel data.</a:t>
            </a:r>
          </a:p>
          <a:p>
            <a:pPr marL="114300" indent="0">
              <a:buNone/>
            </a:pPr>
            <a:endParaRPr lang="en-IN" b="1" u="sng" dirty="0">
              <a:latin typeface="Aptos Narrow" panose="020B0004020202020204" pitchFamily="34" charset="0"/>
            </a:endParaRPr>
          </a:p>
        </p:txBody>
      </p:sp>
    </p:spTree>
    <p:extLst>
      <p:ext uri="{BB962C8B-B14F-4D97-AF65-F5344CB8AC3E}">
        <p14:creationId xmlns:p14="http://schemas.microsoft.com/office/powerpoint/2010/main" val="8331321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A4C3E-29A4-7955-D4A9-2434A8D67963}"/>
              </a:ext>
            </a:extLst>
          </p:cNvPr>
          <p:cNvSpPr>
            <a:spLocks noGrp="1"/>
          </p:cNvSpPr>
          <p:nvPr>
            <p:ph type="title"/>
          </p:nvPr>
        </p:nvSpPr>
        <p:spPr>
          <a:xfrm>
            <a:off x="589280" y="-204819"/>
            <a:ext cx="10515600" cy="1325563"/>
          </a:xfrm>
        </p:spPr>
        <p:txBody>
          <a:bodyPr/>
          <a:lstStyle/>
          <a:p>
            <a:r>
              <a:rPr lang="en-IN" b="1" i="1" u="sng" dirty="0">
                <a:latin typeface="Aptos Narrow" panose="020B0004020202020204" pitchFamily="34" charset="0"/>
              </a:rPr>
              <a:t>Experience &amp; Challenges :</a:t>
            </a:r>
          </a:p>
        </p:txBody>
      </p:sp>
      <p:sp>
        <p:nvSpPr>
          <p:cNvPr id="3" name="Text Placeholder 2">
            <a:extLst>
              <a:ext uri="{FF2B5EF4-FFF2-40B4-BE49-F238E27FC236}">
                <a16:creationId xmlns:a16="http://schemas.microsoft.com/office/drawing/2014/main" id="{A16AA167-CB20-6B6F-5B16-5E69818E3DE1}"/>
              </a:ext>
            </a:extLst>
          </p:cNvPr>
          <p:cNvSpPr>
            <a:spLocks noGrp="1"/>
          </p:cNvSpPr>
          <p:nvPr>
            <p:ph type="body" idx="1"/>
          </p:nvPr>
        </p:nvSpPr>
        <p:spPr>
          <a:xfrm>
            <a:off x="589280" y="698090"/>
            <a:ext cx="12192000" cy="6159910"/>
          </a:xfrm>
        </p:spPr>
        <p:txBody>
          <a:bodyPr/>
          <a:lstStyle/>
          <a:p>
            <a:pPr marL="114300" indent="0">
              <a:buNone/>
            </a:pPr>
            <a:r>
              <a:rPr lang="en-GB" b="1" i="1" u="sng" dirty="0">
                <a:latin typeface="Aptos Narrow" panose="020B0004020202020204" pitchFamily="34" charset="0"/>
              </a:rPr>
              <a:t>During this project, several challenges were encountered :</a:t>
            </a:r>
          </a:p>
          <a:p>
            <a:pPr>
              <a:buFont typeface="Wingdings" panose="05000000000000000000" pitchFamily="2" charset="2"/>
              <a:buChar char="ü"/>
            </a:pPr>
            <a:r>
              <a:rPr lang="en-GB" i="1" dirty="0">
                <a:latin typeface="Aptos Narrow" panose="020B0004020202020204" pitchFamily="34" charset="0"/>
              </a:rPr>
              <a:t>Extracting structured data from website HTML pages</a:t>
            </a:r>
          </a:p>
          <a:p>
            <a:pPr>
              <a:buFont typeface="Wingdings" panose="05000000000000000000" pitchFamily="2" charset="2"/>
              <a:buChar char="ü"/>
            </a:pPr>
            <a:r>
              <a:rPr lang="en-GB" i="1" dirty="0">
                <a:latin typeface="Aptos Narrow" panose="020B0004020202020204" pitchFamily="34" charset="0"/>
              </a:rPr>
              <a:t>Cleaning price values containing symbols and commas</a:t>
            </a:r>
          </a:p>
          <a:p>
            <a:pPr>
              <a:buFont typeface="Wingdings" panose="05000000000000000000" pitchFamily="2" charset="2"/>
              <a:buChar char="ü"/>
            </a:pPr>
            <a:r>
              <a:rPr lang="en-GB" i="1" dirty="0">
                <a:latin typeface="Aptos Narrow" panose="020B0004020202020204" pitchFamily="34" charset="0"/>
              </a:rPr>
              <a:t>Handling inconsistent text formats in scraped data</a:t>
            </a:r>
          </a:p>
          <a:p>
            <a:pPr marL="114300" indent="0">
              <a:buNone/>
            </a:pPr>
            <a:endParaRPr lang="en-GB" i="1" dirty="0">
              <a:latin typeface="Aptos Narrow" panose="020B0004020202020204" pitchFamily="34" charset="0"/>
            </a:endParaRPr>
          </a:p>
          <a:p>
            <a:pPr marL="114300" indent="0">
              <a:buNone/>
            </a:pPr>
            <a:r>
              <a:rPr lang="en-GB" b="1" i="1" u="sng" dirty="0">
                <a:latin typeface="Aptos Narrow" panose="020B0004020202020204" pitchFamily="34" charset="0"/>
              </a:rPr>
              <a:t>This project helped improve skills :</a:t>
            </a:r>
          </a:p>
          <a:p>
            <a:pPr>
              <a:buFont typeface="Wingdings" panose="05000000000000000000" pitchFamily="2" charset="2"/>
              <a:buChar char="ü"/>
            </a:pPr>
            <a:r>
              <a:rPr lang="en-GB" i="1" dirty="0">
                <a:latin typeface="Aptos Narrow" panose="020B0004020202020204" pitchFamily="34" charset="0"/>
              </a:rPr>
              <a:t>Web Scraping</a:t>
            </a:r>
          </a:p>
          <a:p>
            <a:pPr>
              <a:buFont typeface="Wingdings" panose="05000000000000000000" pitchFamily="2" charset="2"/>
              <a:buChar char="ü"/>
            </a:pPr>
            <a:r>
              <a:rPr lang="en-GB" i="1" dirty="0">
                <a:latin typeface="Aptos Narrow" panose="020B0004020202020204" pitchFamily="34" charset="0"/>
              </a:rPr>
              <a:t>Data Cleaning</a:t>
            </a:r>
          </a:p>
          <a:p>
            <a:pPr>
              <a:buFont typeface="Wingdings" panose="05000000000000000000" pitchFamily="2" charset="2"/>
              <a:buChar char="ü"/>
            </a:pPr>
            <a:r>
              <a:rPr lang="en-GB" i="1" dirty="0">
                <a:latin typeface="Aptos Narrow" panose="020B0004020202020204" pitchFamily="34" charset="0"/>
              </a:rPr>
              <a:t>Exploratory Data Analysis</a:t>
            </a:r>
          </a:p>
          <a:p>
            <a:pPr>
              <a:buFont typeface="Wingdings" panose="05000000000000000000" pitchFamily="2" charset="2"/>
              <a:buChar char="ü"/>
            </a:pPr>
            <a:r>
              <a:rPr lang="en-GB" i="1" dirty="0">
                <a:latin typeface="Aptos Narrow" panose="020B0004020202020204" pitchFamily="34" charset="0"/>
              </a:rPr>
              <a:t>Data Visualization</a:t>
            </a:r>
          </a:p>
          <a:p>
            <a:pPr>
              <a:buFont typeface="Wingdings" panose="05000000000000000000" pitchFamily="2" charset="2"/>
              <a:buChar char="ü"/>
            </a:pPr>
            <a:endParaRPr lang="en-IN" i="1" dirty="0">
              <a:latin typeface="Aptos Narrow" panose="020B0004020202020204" pitchFamily="34" charset="0"/>
            </a:endParaRPr>
          </a:p>
        </p:txBody>
      </p:sp>
    </p:spTree>
    <p:extLst>
      <p:ext uri="{BB962C8B-B14F-4D97-AF65-F5344CB8AC3E}">
        <p14:creationId xmlns:p14="http://schemas.microsoft.com/office/powerpoint/2010/main" val="5511524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1972</TotalTime>
  <Words>1149</Words>
  <Application>Microsoft Office PowerPoint</Application>
  <PresentationFormat>Widescreen</PresentationFormat>
  <Paragraphs>240</Paragraphs>
  <Slides>29</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Aptos Narrow</vt:lpstr>
      <vt:lpstr>Arial</vt:lpstr>
      <vt:lpstr>Calibri</vt:lpstr>
      <vt:lpstr>Libre Baskerville</vt:lpstr>
      <vt:lpstr>Franklin Gothic Heavy</vt:lpstr>
      <vt:lpstr>Wingdings</vt:lpstr>
      <vt:lpstr>Office Theme</vt:lpstr>
      <vt:lpstr>PowerPoint Presentation</vt:lpstr>
      <vt:lpstr>PowerPoint Presentation</vt:lpstr>
      <vt:lpstr>Business Problem &amp; Use Case (Domain Understanding) :</vt:lpstr>
      <vt:lpstr>Objective of the Project :</vt:lpstr>
      <vt:lpstr>PowerPoint Presentation</vt:lpstr>
      <vt:lpstr>       Web Scraping – Details</vt:lpstr>
      <vt:lpstr>Summary of the Data :</vt:lpstr>
      <vt:lpstr>PowerPoint Presentation</vt:lpstr>
      <vt:lpstr>Exploratory Data Analysis (EDA) :</vt:lpstr>
      <vt:lpstr>Data Cleaning Steps :</vt:lpstr>
      <vt:lpstr>Data Manipulation Steps :</vt:lpstr>
      <vt:lpstr>Outliers :</vt:lpstr>
      <vt:lpstr>PowerPoint Presentation</vt:lpstr>
      <vt:lpstr>PowerPoint Presentation</vt:lpstr>
      <vt:lpstr>Univariate Analysis Steps :</vt:lpstr>
      <vt:lpstr>Visualizations In Univariate Analysis :</vt:lpstr>
      <vt:lpstr>PowerPoint Presentation</vt:lpstr>
      <vt:lpstr>PowerPoint Presentation</vt:lpstr>
      <vt:lpstr>Bivariate Analysis :</vt:lpstr>
      <vt:lpstr>Visualizations In Bivariate Analysis :</vt:lpstr>
      <vt:lpstr>PowerPoint Presentation</vt:lpstr>
      <vt:lpstr>Multivariate Analysis :</vt:lpstr>
      <vt:lpstr>Visualizations In Multivariate Analysis :</vt:lpstr>
      <vt:lpstr>PowerPoint Presentation</vt:lpstr>
      <vt:lpstr>Business Insight From Project :</vt:lpstr>
      <vt:lpstr>Key Business Questions :</vt:lpstr>
      <vt:lpstr>Conclusion (Key Findings) :</vt:lpstr>
      <vt:lpstr>Experience &amp; Challenges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shyam panduru</cp:lastModifiedBy>
  <cp:revision>16</cp:revision>
  <dcterms:created xsi:type="dcterms:W3CDTF">2021-02-16T05:19:01Z</dcterms:created>
  <dcterms:modified xsi:type="dcterms:W3CDTF">2026-03-10T09:45:22Z</dcterms:modified>
</cp:coreProperties>
</file>